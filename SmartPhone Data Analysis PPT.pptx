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79" r:id="rId4"/>
    <p:sldId id="280" r:id="rId5"/>
    <p:sldId id="281" r:id="rId6"/>
    <p:sldId id="260" r:id="rId7"/>
    <p:sldId id="262" r:id="rId8"/>
    <p:sldId id="263" r:id="rId9"/>
    <p:sldId id="264" r:id="rId10"/>
    <p:sldId id="274" r:id="rId11"/>
    <p:sldId id="265" r:id="rId12"/>
    <p:sldId id="267" r:id="rId13"/>
    <p:sldId id="268" r:id="rId14"/>
    <p:sldId id="269" r:id="rId15"/>
    <p:sldId id="271" r:id="rId16"/>
    <p:sldId id="275" r:id="rId17"/>
    <p:sldId id="272" r:id="rId18"/>
    <p:sldId id="276" r:id="rId19"/>
    <p:sldId id="277"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7" d="100"/>
          <a:sy n="87" d="100"/>
        </p:scale>
        <p:origin x="45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08EDA-5423-123A-C619-EAA5B198BF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76919C-5774-4838-711A-E5D34180FA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2487AC-6E68-EE31-B38B-5BD3568EC2EC}"/>
              </a:ext>
            </a:extLst>
          </p:cNvPr>
          <p:cNvSpPr>
            <a:spLocks noGrp="1"/>
          </p:cNvSpPr>
          <p:nvPr>
            <p:ph type="dt" sz="half" idx="10"/>
          </p:nvPr>
        </p:nvSpPr>
        <p:spPr/>
        <p:txBody>
          <a:bodyPr/>
          <a:lstStyle/>
          <a:p>
            <a:fld id="{C8A93D19-D0B0-43C2-B3B7-C20C8CCACC2B}" type="datetimeFigureOut">
              <a:rPr lang="en-US" smtClean="0"/>
              <a:t>5/13/2026</a:t>
            </a:fld>
            <a:endParaRPr lang="en-US"/>
          </a:p>
        </p:txBody>
      </p:sp>
      <p:sp>
        <p:nvSpPr>
          <p:cNvPr id="5" name="Footer Placeholder 4">
            <a:extLst>
              <a:ext uri="{FF2B5EF4-FFF2-40B4-BE49-F238E27FC236}">
                <a16:creationId xmlns:a16="http://schemas.microsoft.com/office/drawing/2014/main" id="{6D84CDA3-8CAB-568F-A95B-14F23B5DA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D57BA8-9C1C-1736-E536-703E11D1B657}"/>
              </a:ext>
            </a:extLst>
          </p:cNvPr>
          <p:cNvSpPr>
            <a:spLocks noGrp="1"/>
          </p:cNvSpPr>
          <p:nvPr>
            <p:ph type="sldNum" sz="quarter" idx="12"/>
          </p:nvPr>
        </p:nvSpPr>
        <p:spPr/>
        <p:txBody>
          <a:bodyPr/>
          <a:lstStyle/>
          <a:p>
            <a:fld id="{3A8B0A9E-5868-4D44-8DAF-7D6FC88879C3}" type="slidenum">
              <a:rPr lang="en-US" smtClean="0"/>
              <a:t>‹#›</a:t>
            </a:fld>
            <a:endParaRPr lang="en-US"/>
          </a:p>
        </p:txBody>
      </p:sp>
    </p:spTree>
    <p:extLst>
      <p:ext uri="{BB962C8B-B14F-4D97-AF65-F5344CB8AC3E}">
        <p14:creationId xmlns:p14="http://schemas.microsoft.com/office/powerpoint/2010/main" val="3416077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24089-ADAE-E5CD-88FE-B4B99C2A25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8103D6-99DD-DB71-3EEE-5EB2535E0D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530CA8-7BDF-0296-FE04-A32AD60EE111}"/>
              </a:ext>
            </a:extLst>
          </p:cNvPr>
          <p:cNvSpPr>
            <a:spLocks noGrp="1"/>
          </p:cNvSpPr>
          <p:nvPr>
            <p:ph type="dt" sz="half" idx="10"/>
          </p:nvPr>
        </p:nvSpPr>
        <p:spPr/>
        <p:txBody>
          <a:bodyPr/>
          <a:lstStyle/>
          <a:p>
            <a:fld id="{C8A93D19-D0B0-43C2-B3B7-C20C8CCACC2B}" type="datetimeFigureOut">
              <a:rPr lang="en-US" smtClean="0"/>
              <a:t>5/13/2026</a:t>
            </a:fld>
            <a:endParaRPr lang="en-US"/>
          </a:p>
        </p:txBody>
      </p:sp>
      <p:sp>
        <p:nvSpPr>
          <p:cNvPr id="5" name="Footer Placeholder 4">
            <a:extLst>
              <a:ext uri="{FF2B5EF4-FFF2-40B4-BE49-F238E27FC236}">
                <a16:creationId xmlns:a16="http://schemas.microsoft.com/office/drawing/2014/main" id="{D9D4988F-DE08-F19D-9AF8-48A7476802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46FD53-A4D6-8C9C-B78D-D3435980B201}"/>
              </a:ext>
            </a:extLst>
          </p:cNvPr>
          <p:cNvSpPr>
            <a:spLocks noGrp="1"/>
          </p:cNvSpPr>
          <p:nvPr>
            <p:ph type="sldNum" sz="quarter" idx="12"/>
          </p:nvPr>
        </p:nvSpPr>
        <p:spPr/>
        <p:txBody>
          <a:bodyPr/>
          <a:lstStyle/>
          <a:p>
            <a:fld id="{3A8B0A9E-5868-4D44-8DAF-7D6FC88879C3}" type="slidenum">
              <a:rPr lang="en-US" smtClean="0"/>
              <a:t>‹#›</a:t>
            </a:fld>
            <a:endParaRPr lang="en-US"/>
          </a:p>
        </p:txBody>
      </p:sp>
    </p:spTree>
    <p:extLst>
      <p:ext uri="{BB962C8B-B14F-4D97-AF65-F5344CB8AC3E}">
        <p14:creationId xmlns:p14="http://schemas.microsoft.com/office/powerpoint/2010/main" val="2272611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EDD79-5DFA-21F2-5F0A-D860D9182A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DE380C8-5218-D24F-59DE-5393F12042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3A5DFC-3551-8CA6-2213-4B12B726DA15}"/>
              </a:ext>
            </a:extLst>
          </p:cNvPr>
          <p:cNvSpPr>
            <a:spLocks noGrp="1"/>
          </p:cNvSpPr>
          <p:nvPr>
            <p:ph type="dt" sz="half" idx="10"/>
          </p:nvPr>
        </p:nvSpPr>
        <p:spPr/>
        <p:txBody>
          <a:bodyPr/>
          <a:lstStyle/>
          <a:p>
            <a:fld id="{C8A93D19-D0B0-43C2-B3B7-C20C8CCACC2B}" type="datetimeFigureOut">
              <a:rPr lang="en-US" smtClean="0"/>
              <a:t>5/13/2026</a:t>
            </a:fld>
            <a:endParaRPr lang="en-US"/>
          </a:p>
        </p:txBody>
      </p:sp>
      <p:sp>
        <p:nvSpPr>
          <p:cNvPr id="5" name="Footer Placeholder 4">
            <a:extLst>
              <a:ext uri="{FF2B5EF4-FFF2-40B4-BE49-F238E27FC236}">
                <a16:creationId xmlns:a16="http://schemas.microsoft.com/office/drawing/2014/main" id="{A2244812-34C9-82AF-EA3D-6CC0A61601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05487-6DCA-C993-3C8E-285A334D2DDC}"/>
              </a:ext>
            </a:extLst>
          </p:cNvPr>
          <p:cNvSpPr>
            <a:spLocks noGrp="1"/>
          </p:cNvSpPr>
          <p:nvPr>
            <p:ph type="sldNum" sz="quarter" idx="12"/>
          </p:nvPr>
        </p:nvSpPr>
        <p:spPr/>
        <p:txBody>
          <a:bodyPr/>
          <a:lstStyle/>
          <a:p>
            <a:fld id="{3A8B0A9E-5868-4D44-8DAF-7D6FC88879C3}" type="slidenum">
              <a:rPr lang="en-US" smtClean="0"/>
              <a:t>‹#›</a:t>
            </a:fld>
            <a:endParaRPr lang="en-US"/>
          </a:p>
        </p:txBody>
      </p:sp>
    </p:spTree>
    <p:extLst>
      <p:ext uri="{BB962C8B-B14F-4D97-AF65-F5344CB8AC3E}">
        <p14:creationId xmlns:p14="http://schemas.microsoft.com/office/powerpoint/2010/main" val="4242244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666D-4A75-A15B-F772-3A5640C382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3D991C-3C5B-2B80-73A0-AB9B3EDB97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DBE308-3BBF-F872-DE69-BE101F22B5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3E8FAE-4B5D-1F1D-0A36-6A2AD72FA1E9}"/>
              </a:ext>
            </a:extLst>
          </p:cNvPr>
          <p:cNvSpPr>
            <a:spLocks noGrp="1"/>
          </p:cNvSpPr>
          <p:nvPr>
            <p:ph type="dt" sz="half" idx="10"/>
          </p:nvPr>
        </p:nvSpPr>
        <p:spPr/>
        <p:txBody>
          <a:bodyPr/>
          <a:lstStyle/>
          <a:p>
            <a:fld id="{C8A93D19-D0B0-43C2-B3B7-C20C8CCACC2B}" type="datetimeFigureOut">
              <a:rPr lang="en-US" smtClean="0"/>
              <a:t>5/13/2026</a:t>
            </a:fld>
            <a:endParaRPr lang="en-US"/>
          </a:p>
        </p:txBody>
      </p:sp>
      <p:sp>
        <p:nvSpPr>
          <p:cNvPr id="6" name="Footer Placeholder 5">
            <a:extLst>
              <a:ext uri="{FF2B5EF4-FFF2-40B4-BE49-F238E27FC236}">
                <a16:creationId xmlns:a16="http://schemas.microsoft.com/office/drawing/2014/main" id="{7C0D5490-C49E-AB99-9E0F-DE35F1D0A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F0CC2-FA3D-25C2-8F00-4D62AF76DB6A}"/>
              </a:ext>
            </a:extLst>
          </p:cNvPr>
          <p:cNvSpPr>
            <a:spLocks noGrp="1"/>
          </p:cNvSpPr>
          <p:nvPr>
            <p:ph type="sldNum" sz="quarter" idx="12"/>
          </p:nvPr>
        </p:nvSpPr>
        <p:spPr/>
        <p:txBody>
          <a:bodyPr/>
          <a:lstStyle/>
          <a:p>
            <a:fld id="{3A8B0A9E-5868-4D44-8DAF-7D6FC88879C3}" type="slidenum">
              <a:rPr lang="en-US" smtClean="0"/>
              <a:t>‹#›</a:t>
            </a:fld>
            <a:endParaRPr lang="en-US"/>
          </a:p>
        </p:txBody>
      </p:sp>
    </p:spTree>
    <p:extLst>
      <p:ext uri="{BB962C8B-B14F-4D97-AF65-F5344CB8AC3E}">
        <p14:creationId xmlns:p14="http://schemas.microsoft.com/office/powerpoint/2010/main" val="1527803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3E465-880B-9B1A-51D5-27259181D5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0E72BB-DAE7-0E6C-44DE-8BDB3D5488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D7D24D-A721-67B7-17D9-BE06BEA3F6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07866B-20C9-EEF3-2D75-0065842825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52F9F9-9AC0-901C-A999-A504D6E830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1B301C-97DC-3903-612B-CEA3FE85FD6C}"/>
              </a:ext>
            </a:extLst>
          </p:cNvPr>
          <p:cNvSpPr>
            <a:spLocks noGrp="1"/>
          </p:cNvSpPr>
          <p:nvPr>
            <p:ph type="dt" sz="half" idx="10"/>
          </p:nvPr>
        </p:nvSpPr>
        <p:spPr/>
        <p:txBody>
          <a:bodyPr/>
          <a:lstStyle/>
          <a:p>
            <a:fld id="{C8A93D19-D0B0-43C2-B3B7-C20C8CCACC2B}" type="datetimeFigureOut">
              <a:rPr lang="en-US" smtClean="0"/>
              <a:t>5/13/2026</a:t>
            </a:fld>
            <a:endParaRPr lang="en-US"/>
          </a:p>
        </p:txBody>
      </p:sp>
      <p:sp>
        <p:nvSpPr>
          <p:cNvPr id="8" name="Footer Placeholder 7">
            <a:extLst>
              <a:ext uri="{FF2B5EF4-FFF2-40B4-BE49-F238E27FC236}">
                <a16:creationId xmlns:a16="http://schemas.microsoft.com/office/drawing/2014/main" id="{0C214BD7-40AE-367A-95E7-BB33553B5B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EF80AC-7C62-871B-C8C3-1C72998C1B99}"/>
              </a:ext>
            </a:extLst>
          </p:cNvPr>
          <p:cNvSpPr>
            <a:spLocks noGrp="1"/>
          </p:cNvSpPr>
          <p:nvPr>
            <p:ph type="sldNum" sz="quarter" idx="12"/>
          </p:nvPr>
        </p:nvSpPr>
        <p:spPr/>
        <p:txBody>
          <a:bodyPr/>
          <a:lstStyle/>
          <a:p>
            <a:fld id="{3A8B0A9E-5868-4D44-8DAF-7D6FC88879C3}" type="slidenum">
              <a:rPr lang="en-US" smtClean="0"/>
              <a:t>‹#›</a:t>
            </a:fld>
            <a:endParaRPr lang="en-US"/>
          </a:p>
        </p:txBody>
      </p:sp>
    </p:spTree>
    <p:extLst>
      <p:ext uri="{BB962C8B-B14F-4D97-AF65-F5344CB8AC3E}">
        <p14:creationId xmlns:p14="http://schemas.microsoft.com/office/powerpoint/2010/main" val="2064262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B1D74-8D42-3282-02CF-8576CDBC7E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58754F-2E05-3E6D-F7B0-B5CEFAA47DD2}"/>
              </a:ext>
            </a:extLst>
          </p:cNvPr>
          <p:cNvSpPr>
            <a:spLocks noGrp="1"/>
          </p:cNvSpPr>
          <p:nvPr>
            <p:ph type="dt" sz="half" idx="10"/>
          </p:nvPr>
        </p:nvSpPr>
        <p:spPr/>
        <p:txBody>
          <a:bodyPr/>
          <a:lstStyle/>
          <a:p>
            <a:fld id="{C8A93D19-D0B0-43C2-B3B7-C20C8CCACC2B}" type="datetimeFigureOut">
              <a:rPr lang="en-US" smtClean="0"/>
              <a:t>5/13/2026</a:t>
            </a:fld>
            <a:endParaRPr lang="en-US"/>
          </a:p>
        </p:txBody>
      </p:sp>
      <p:sp>
        <p:nvSpPr>
          <p:cNvPr id="4" name="Footer Placeholder 3">
            <a:extLst>
              <a:ext uri="{FF2B5EF4-FFF2-40B4-BE49-F238E27FC236}">
                <a16:creationId xmlns:a16="http://schemas.microsoft.com/office/drawing/2014/main" id="{CE968419-806F-1374-E3C3-F13380BDC9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934280-27D5-FA5C-B544-9B9186BED77D}"/>
              </a:ext>
            </a:extLst>
          </p:cNvPr>
          <p:cNvSpPr>
            <a:spLocks noGrp="1"/>
          </p:cNvSpPr>
          <p:nvPr>
            <p:ph type="sldNum" sz="quarter" idx="12"/>
          </p:nvPr>
        </p:nvSpPr>
        <p:spPr/>
        <p:txBody>
          <a:bodyPr/>
          <a:lstStyle/>
          <a:p>
            <a:fld id="{3A8B0A9E-5868-4D44-8DAF-7D6FC88879C3}" type="slidenum">
              <a:rPr lang="en-US" smtClean="0"/>
              <a:t>‹#›</a:t>
            </a:fld>
            <a:endParaRPr lang="en-US"/>
          </a:p>
        </p:txBody>
      </p:sp>
    </p:spTree>
    <p:extLst>
      <p:ext uri="{BB962C8B-B14F-4D97-AF65-F5344CB8AC3E}">
        <p14:creationId xmlns:p14="http://schemas.microsoft.com/office/powerpoint/2010/main" val="3151561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645F84-DBF8-2A9E-A1AD-5A8A7B57DE62}"/>
              </a:ext>
            </a:extLst>
          </p:cNvPr>
          <p:cNvSpPr>
            <a:spLocks noGrp="1"/>
          </p:cNvSpPr>
          <p:nvPr>
            <p:ph type="dt" sz="half" idx="10"/>
          </p:nvPr>
        </p:nvSpPr>
        <p:spPr/>
        <p:txBody>
          <a:bodyPr/>
          <a:lstStyle/>
          <a:p>
            <a:fld id="{C8A93D19-D0B0-43C2-B3B7-C20C8CCACC2B}" type="datetimeFigureOut">
              <a:rPr lang="en-US" smtClean="0"/>
              <a:t>5/13/2026</a:t>
            </a:fld>
            <a:endParaRPr lang="en-US"/>
          </a:p>
        </p:txBody>
      </p:sp>
      <p:sp>
        <p:nvSpPr>
          <p:cNvPr id="3" name="Footer Placeholder 2">
            <a:extLst>
              <a:ext uri="{FF2B5EF4-FFF2-40B4-BE49-F238E27FC236}">
                <a16:creationId xmlns:a16="http://schemas.microsoft.com/office/drawing/2014/main" id="{4FE8D4E4-5916-1DD2-D3B3-7E00A9CA9A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1598CD-89E8-038E-D45C-54785C515A18}"/>
              </a:ext>
            </a:extLst>
          </p:cNvPr>
          <p:cNvSpPr>
            <a:spLocks noGrp="1"/>
          </p:cNvSpPr>
          <p:nvPr>
            <p:ph type="sldNum" sz="quarter" idx="12"/>
          </p:nvPr>
        </p:nvSpPr>
        <p:spPr/>
        <p:txBody>
          <a:bodyPr/>
          <a:lstStyle/>
          <a:p>
            <a:fld id="{3A8B0A9E-5868-4D44-8DAF-7D6FC88879C3}" type="slidenum">
              <a:rPr lang="en-US" smtClean="0"/>
              <a:t>‹#›</a:t>
            </a:fld>
            <a:endParaRPr lang="en-US"/>
          </a:p>
        </p:txBody>
      </p:sp>
    </p:spTree>
    <p:extLst>
      <p:ext uri="{BB962C8B-B14F-4D97-AF65-F5344CB8AC3E}">
        <p14:creationId xmlns:p14="http://schemas.microsoft.com/office/powerpoint/2010/main" val="2698013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8E5C9-181A-73C0-1581-318288ABC2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B208E5E-0DB5-BC68-B54B-A5233D7C68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159FAB-8C4E-05CF-0DCA-B12A16EC9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7FA9A6-13D6-F0F4-3479-925AF75A9496}"/>
              </a:ext>
            </a:extLst>
          </p:cNvPr>
          <p:cNvSpPr>
            <a:spLocks noGrp="1"/>
          </p:cNvSpPr>
          <p:nvPr>
            <p:ph type="dt" sz="half" idx="10"/>
          </p:nvPr>
        </p:nvSpPr>
        <p:spPr/>
        <p:txBody>
          <a:bodyPr/>
          <a:lstStyle/>
          <a:p>
            <a:fld id="{C8A93D19-D0B0-43C2-B3B7-C20C8CCACC2B}" type="datetimeFigureOut">
              <a:rPr lang="en-US" smtClean="0"/>
              <a:t>5/13/2026</a:t>
            </a:fld>
            <a:endParaRPr lang="en-US"/>
          </a:p>
        </p:txBody>
      </p:sp>
      <p:sp>
        <p:nvSpPr>
          <p:cNvPr id="6" name="Footer Placeholder 5">
            <a:extLst>
              <a:ext uri="{FF2B5EF4-FFF2-40B4-BE49-F238E27FC236}">
                <a16:creationId xmlns:a16="http://schemas.microsoft.com/office/drawing/2014/main" id="{3D84EADD-758E-7286-AFC9-0DB22E1818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4C6FC1-DE1B-E72A-77ED-E7F0A8EF4344}"/>
              </a:ext>
            </a:extLst>
          </p:cNvPr>
          <p:cNvSpPr>
            <a:spLocks noGrp="1"/>
          </p:cNvSpPr>
          <p:nvPr>
            <p:ph type="sldNum" sz="quarter" idx="12"/>
          </p:nvPr>
        </p:nvSpPr>
        <p:spPr/>
        <p:txBody>
          <a:bodyPr/>
          <a:lstStyle/>
          <a:p>
            <a:fld id="{3A8B0A9E-5868-4D44-8DAF-7D6FC88879C3}" type="slidenum">
              <a:rPr lang="en-US" smtClean="0"/>
              <a:t>‹#›</a:t>
            </a:fld>
            <a:endParaRPr lang="en-US"/>
          </a:p>
        </p:txBody>
      </p:sp>
    </p:spTree>
    <p:extLst>
      <p:ext uri="{BB962C8B-B14F-4D97-AF65-F5344CB8AC3E}">
        <p14:creationId xmlns:p14="http://schemas.microsoft.com/office/powerpoint/2010/main" val="1764585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3B1E3-9AFD-5760-81A9-D01DD1B17D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92BCA8-B31A-2B96-DB57-7B774FD980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DADA23-B5EB-B16E-BF97-73B61B2647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B34A13-0990-6ADB-43BC-0765B7E8DBF3}"/>
              </a:ext>
            </a:extLst>
          </p:cNvPr>
          <p:cNvSpPr>
            <a:spLocks noGrp="1"/>
          </p:cNvSpPr>
          <p:nvPr>
            <p:ph type="dt" sz="half" idx="10"/>
          </p:nvPr>
        </p:nvSpPr>
        <p:spPr/>
        <p:txBody>
          <a:bodyPr/>
          <a:lstStyle/>
          <a:p>
            <a:fld id="{C8A93D19-D0B0-43C2-B3B7-C20C8CCACC2B}" type="datetimeFigureOut">
              <a:rPr lang="en-US" smtClean="0"/>
              <a:t>5/13/2026</a:t>
            </a:fld>
            <a:endParaRPr lang="en-US"/>
          </a:p>
        </p:txBody>
      </p:sp>
      <p:sp>
        <p:nvSpPr>
          <p:cNvPr id="6" name="Footer Placeholder 5">
            <a:extLst>
              <a:ext uri="{FF2B5EF4-FFF2-40B4-BE49-F238E27FC236}">
                <a16:creationId xmlns:a16="http://schemas.microsoft.com/office/drawing/2014/main" id="{E2498309-17D3-B1AB-DA66-9D5EADDF97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83C907-49A9-B0BD-4599-49D5C9A16F68}"/>
              </a:ext>
            </a:extLst>
          </p:cNvPr>
          <p:cNvSpPr>
            <a:spLocks noGrp="1"/>
          </p:cNvSpPr>
          <p:nvPr>
            <p:ph type="sldNum" sz="quarter" idx="12"/>
          </p:nvPr>
        </p:nvSpPr>
        <p:spPr/>
        <p:txBody>
          <a:bodyPr/>
          <a:lstStyle/>
          <a:p>
            <a:fld id="{3A8B0A9E-5868-4D44-8DAF-7D6FC88879C3}" type="slidenum">
              <a:rPr lang="en-US" smtClean="0"/>
              <a:t>‹#›</a:t>
            </a:fld>
            <a:endParaRPr lang="en-US"/>
          </a:p>
        </p:txBody>
      </p:sp>
    </p:spTree>
    <p:extLst>
      <p:ext uri="{BB962C8B-B14F-4D97-AF65-F5344CB8AC3E}">
        <p14:creationId xmlns:p14="http://schemas.microsoft.com/office/powerpoint/2010/main" val="1175504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5DFB9-4A9E-3C37-4521-0AA85F93EF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27E1B1-EB29-0086-E312-9355CE5373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5C5A12-2BBC-81F2-1C21-6D4CEF9145D9}"/>
              </a:ext>
            </a:extLst>
          </p:cNvPr>
          <p:cNvSpPr>
            <a:spLocks noGrp="1"/>
          </p:cNvSpPr>
          <p:nvPr>
            <p:ph type="dt" sz="half" idx="10"/>
          </p:nvPr>
        </p:nvSpPr>
        <p:spPr/>
        <p:txBody>
          <a:bodyPr/>
          <a:lstStyle/>
          <a:p>
            <a:fld id="{C8A93D19-D0B0-43C2-B3B7-C20C8CCACC2B}" type="datetimeFigureOut">
              <a:rPr lang="en-US" smtClean="0"/>
              <a:t>5/13/2026</a:t>
            </a:fld>
            <a:endParaRPr lang="en-US"/>
          </a:p>
        </p:txBody>
      </p:sp>
      <p:sp>
        <p:nvSpPr>
          <p:cNvPr id="5" name="Footer Placeholder 4">
            <a:extLst>
              <a:ext uri="{FF2B5EF4-FFF2-40B4-BE49-F238E27FC236}">
                <a16:creationId xmlns:a16="http://schemas.microsoft.com/office/drawing/2014/main" id="{A3D64FCF-E0DB-6966-C0C8-60D8F9B708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87E67-0A61-EAD7-3940-DBD24F1712B5}"/>
              </a:ext>
            </a:extLst>
          </p:cNvPr>
          <p:cNvSpPr>
            <a:spLocks noGrp="1"/>
          </p:cNvSpPr>
          <p:nvPr>
            <p:ph type="sldNum" sz="quarter" idx="12"/>
          </p:nvPr>
        </p:nvSpPr>
        <p:spPr/>
        <p:txBody>
          <a:bodyPr/>
          <a:lstStyle/>
          <a:p>
            <a:fld id="{3A8B0A9E-5868-4D44-8DAF-7D6FC88879C3}" type="slidenum">
              <a:rPr lang="en-US" smtClean="0"/>
              <a:t>‹#›</a:t>
            </a:fld>
            <a:endParaRPr lang="en-US"/>
          </a:p>
        </p:txBody>
      </p:sp>
    </p:spTree>
    <p:extLst>
      <p:ext uri="{BB962C8B-B14F-4D97-AF65-F5344CB8AC3E}">
        <p14:creationId xmlns:p14="http://schemas.microsoft.com/office/powerpoint/2010/main" val="2726831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58D628-6FF0-BCA2-CD18-F53CE1EA023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87AF4C-175C-200C-DF7C-DD96B30347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49DEE8-86F3-C56B-56F3-EE224BED4A23}"/>
              </a:ext>
            </a:extLst>
          </p:cNvPr>
          <p:cNvSpPr>
            <a:spLocks noGrp="1"/>
          </p:cNvSpPr>
          <p:nvPr>
            <p:ph type="dt" sz="half" idx="10"/>
          </p:nvPr>
        </p:nvSpPr>
        <p:spPr/>
        <p:txBody>
          <a:bodyPr/>
          <a:lstStyle/>
          <a:p>
            <a:fld id="{C8A93D19-D0B0-43C2-B3B7-C20C8CCACC2B}" type="datetimeFigureOut">
              <a:rPr lang="en-US" smtClean="0"/>
              <a:t>5/13/2026</a:t>
            </a:fld>
            <a:endParaRPr lang="en-US"/>
          </a:p>
        </p:txBody>
      </p:sp>
      <p:sp>
        <p:nvSpPr>
          <p:cNvPr id="5" name="Footer Placeholder 4">
            <a:extLst>
              <a:ext uri="{FF2B5EF4-FFF2-40B4-BE49-F238E27FC236}">
                <a16:creationId xmlns:a16="http://schemas.microsoft.com/office/drawing/2014/main" id="{D66182EA-2067-4CCE-6B66-33C91092DD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FEBBBD-7648-EF08-F972-8271A72693DE}"/>
              </a:ext>
            </a:extLst>
          </p:cNvPr>
          <p:cNvSpPr>
            <a:spLocks noGrp="1"/>
          </p:cNvSpPr>
          <p:nvPr>
            <p:ph type="sldNum" sz="quarter" idx="12"/>
          </p:nvPr>
        </p:nvSpPr>
        <p:spPr/>
        <p:txBody>
          <a:bodyPr/>
          <a:lstStyle/>
          <a:p>
            <a:fld id="{3A8B0A9E-5868-4D44-8DAF-7D6FC88879C3}" type="slidenum">
              <a:rPr lang="en-US" smtClean="0"/>
              <a:t>‹#›</a:t>
            </a:fld>
            <a:endParaRPr lang="en-US"/>
          </a:p>
        </p:txBody>
      </p:sp>
    </p:spTree>
    <p:extLst>
      <p:ext uri="{BB962C8B-B14F-4D97-AF65-F5344CB8AC3E}">
        <p14:creationId xmlns:p14="http://schemas.microsoft.com/office/powerpoint/2010/main" val="765569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37EE60-F508-0A02-2F3A-132E90E6E1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266ABC-22F8-16D8-D045-FFE86C87C4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261447-743B-30A8-E7F3-D5A2981A47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A93D19-D0B0-43C2-B3B7-C20C8CCACC2B}" type="datetimeFigureOut">
              <a:rPr lang="en-US" smtClean="0"/>
              <a:t>5/13/2026</a:t>
            </a:fld>
            <a:endParaRPr lang="en-US"/>
          </a:p>
        </p:txBody>
      </p:sp>
      <p:sp>
        <p:nvSpPr>
          <p:cNvPr id="5" name="Footer Placeholder 4">
            <a:extLst>
              <a:ext uri="{FF2B5EF4-FFF2-40B4-BE49-F238E27FC236}">
                <a16:creationId xmlns:a16="http://schemas.microsoft.com/office/drawing/2014/main" id="{81797521-B9BF-D840-BB8A-435D76FB54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0C2C8AC-6306-BBB7-9057-427D4338D5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8B0A9E-5868-4D44-8DAF-7D6FC88879C3}" type="slidenum">
              <a:rPr lang="en-US" smtClean="0"/>
              <a:t>‹#›</a:t>
            </a:fld>
            <a:endParaRPr lang="en-US"/>
          </a:p>
        </p:txBody>
      </p:sp>
    </p:spTree>
    <p:extLst>
      <p:ext uri="{BB962C8B-B14F-4D97-AF65-F5344CB8AC3E}">
        <p14:creationId xmlns:p14="http://schemas.microsoft.com/office/powerpoint/2010/main" val="3956746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95" name="Rectangle 209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8" name="Picture 10" descr="How much data do I need?">
            <a:extLst>
              <a:ext uri="{FF2B5EF4-FFF2-40B4-BE49-F238E27FC236}">
                <a16:creationId xmlns:a16="http://schemas.microsoft.com/office/drawing/2014/main" id="{2EA13175-4978-DCAF-C57A-BBB5869CF0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209" r="18875" b="1"/>
          <a:stretch/>
        </p:blipFill>
        <p:spPr bwMode="auto">
          <a:xfrm>
            <a:off x="1"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2097" name="Rectangle 209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F57483-6B89-A3CD-85BC-C20B742C916C}"/>
              </a:ext>
            </a:extLst>
          </p:cNvPr>
          <p:cNvSpPr>
            <a:spLocks noGrp="1"/>
          </p:cNvSpPr>
          <p:nvPr>
            <p:ph type="ctrTitle"/>
          </p:nvPr>
        </p:nvSpPr>
        <p:spPr>
          <a:xfrm>
            <a:off x="7531610" y="365125"/>
            <a:ext cx="3822189" cy="1899912"/>
          </a:xfrm>
        </p:spPr>
        <p:txBody>
          <a:bodyPr vert="horz" lIns="91440" tIns="45720" rIns="91440" bIns="45720" rtlCol="0" anchor="ctr">
            <a:normAutofit/>
          </a:bodyPr>
          <a:lstStyle/>
          <a:p>
            <a:pPr algn="l"/>
            <a:r>
              <a:rPr lang="en-US" sz="4000" b="1" dirty="0">
                <a:latin typeface="Times New Roman" panose="02020603050405020304" pitchFamily="18" charset="0"/>
                <a:cs typeface="Times New Roman" panose="02020603050405020304" pitchFamily="18" charset="0"/>
              </a:rPr>
              <a:t>SMART PHONE DATA ANALYSIS</a:t>
            </a:r>
          </a:p>
        </p:txBody>
      </p:sp>
      <p:sp>
        <p:nvSpPr>
          <p:cNvPr id="3" name="Subtitle 2">
            <a:extLst>
              <a:ext uri="{FF2B5EF4-FFF2-40B4-BE49-F238E27FC236}">
                <a16:creationId xmlns:a16="http://schemas.microsoft.com/office/drawing/2014/main" id="{527F4893-89D4-DA26-C91D-389424A04D52}"/>
              </a:ext>
            </a:extLst>
          </p:cNvPr>
          <p:cNvSpPr>
            <a:spLocks noGrp="1"/>
          </p:cNvSpPr>
          <p:nvPr>
            <p:ph type="subTitle" idx="1"/>
          </p:nvPr>
        </p:nvSpPr>
        <p:spPr>
          <a:xfrm>
            <a:off x="9669643" y="5955276"/>
            <a:ext cx="1995941" cy="537599"/>
          </a:xfrm>
        </p:spPr>
        <p:txBody>
          <a:bodyPr vert="horz" lIns="91440" tIns="45720" rIns="91440" bIns="45720" rtlCol="0">
            <a:noAutofit/>
          </a:bodyPr>
          <a:lstStyle/>
          <a:p>
            <a:pPr algn="l"/>
            <a:r>
              <a:rPr lang="en-US" sz="2000" b="1" dirty="0">
                <a:latin typeface="Times New Roman" panose="02020603050405020304" pitchFamily="18" charset="0"/>
                <a:cs typeface="Times New Roman" panose="02020603050405020304" pitchFamily="18" charset="0"/>
              </a:rPr>
              <a:t>Sindhu Namani </a:t>
            </a:r>
          </a:p>
          <a:p>
            <a:pPr indent="-228600" algn="l">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1948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35CAE8-E49C-BD7A-CDA4-368869AD4774}"/>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70CC1D9-7DA1-0F06-382E-118F25136771}"/>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C925AF56-2C37-A325-97C9-9F28973AEBD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Dataset chosen is a collection of smartphone models extracted from SmartPriks sites like Beautiful Soup.</a:t>
            </a:r>
          </a:p>
          <a:p>
            <a:r>
              <a:rPr lang="en-US" dirty="0">
                <a:latin typeface="Times New Roman" panose="02020603050405020304" pitchFamily="18" charset="0"/>
                <a:cs typeface="Times New Roman" panose="02020603050405020304" pitchFamily="18" charset="0"/>
              </a:rPr>
              <a:t>The dataset includes smart phone features like customer’s rating, prices, battery and memory etc.</a:t>
            </a:r>
          </a:p>
          <a:p>
            <a:r>
              <a:rPr lang="en-US" dirty="0">
                <a:latin typeface="Times New Roman" panose="02020603050405020304" pitchFamily="18" charset="0"/>
                <a:cs typeface="Times New Roman" panose="02020603050405020304" pitchFamily="18" charset="0"/>
              </a:rPr>
              <a:t> Used R programing for analyzing the data, identify patterns and trends.</a:t>
            </a:r>
          </a:p>
          <a:p>
            <a:r>
              <a:rPr lang="en-US" dirty="0">
                <a:latin typeface="Times New Roman" panose="02020603050405020304" pitchFamily="18" charset="0"/>
                <a:cs typeface="Times New Roman" panose="02020603050405020304" pitchFamily="18" charset="0"/>
              </a:rPr>
              <a:t>Agenda is to understand the preference of customers in features and price range.</a:t>
            </a:r>
          </a:p>
        </p:txBody>
      </p:sp>
    </p:spTree>
    <p:extLst>
      <p:ext uri="{BB962C8B-B14F-4D97-AF65-F5344CB8AC3E}">
        <p14:creationId xmlns:p14="http://schemas.microsoft.com/office/powerpoint/2010/main" val="563463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A4310A-48A8-FB12-597A-5E1BB0FCEA03}"/>
              </a:ext>
            </a:extLst>
          </p:cNvPr>
          <p:cNvPicPr>
            <a:picLocks noChangeAspect="1"/>
          </p:cNvPicPr>
          <p:nvPr/>
        </p:nvPicPr>
        <p:blipFill>
          <a:blip r:embed="rId2"/>
          <a:stretch>
            <a:fillRect/>
          </a:stretch>
        </p:blipFill>
        <p:spPr>
          <a:xfrm>
            <a:off x="6248400" y="2547285"/>
            <a:ext cx="5540192" cy="3158507"/>
          </a:xfrm>
          <a:prstGeom prst="rect">
            <a:avLst/>
          </a:prstGeom>
          <a:gradFill>
            <a:gsLst>
              <a:gs pos="45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sx="1000" sy="1000" algn="ctr" rotWithShape="0">
              <a:srgbClr val="000000"/>
            </a:outerShdw>
            <a:reflection blurRad="431800" stA="67000" endPos="65000" dist="165100" dir="5400000" sy="-100000" algn="bl" rotWithShape="0"/>
            <a:softEdge rad="635000"/>
          </a:effectLst>
        </p:spPr>
      </p:pic>
      <p:sp>
        <p:nvSpPr>
          <p:cNvPr id="5" name="Rectangle 4">
            <a:extLst>
              <a:ext uri="{FF2B5EF4-FFF2-40B4-BE49-F238E27FC236}">
                <a16:creationId xmlns:a16="http://schemas.microsoft.com/office/drawing/2014/main" id="{DB9A11B2-BF35-E577-C924-66F1A1201A2D}"/>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1B189E2-C2E0-F3AC-B4BD-D83E0EA156BA}"/>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DATASET EXPLANATION</a:t>
            </a:r>
          </a:p>
        </p:txBody>
      </p:sp>
      <p:sp>
        <p:nvSpPr>
          <p:cNvPr id="3" name="Content Placeholder 2">
            <a:extLst>
              <a:ext uri="{FF2B5EF4-FFF2-40B4-BE49-F238E27FC236}">
                <a16:creationId xmlns:a16="http://schemas.microsoft.com/office/drawing/2014/main" id="{A0241979-304B-321A-1F31-129938F8AED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dataset contains 1020 entries and 11 columns.</a:t>
            </a:r>
          </a:p>
          <a:p>
            <a:pPr marL="228600" lvl="1">
              <a:spcBef>
                <a:spcPts val="1000"/>
              </a:spcBef>
            </a:pPr>
            <a:r>
              <a:rPr lang="en-US" sz="2800" dirty="0">
                <a:latin typeface="Times New Roman" panose="02020603050405020304" pitchFamily="18" charset="0"/>
                <a:cs typeface="Times New Roman" panose="02020603050405020304" pitchFamily="18" charset="0"/>
              </a:rPr>
              <a:t>Model</a:t>
            </a:r>
          </a:p>
          <a:p>
            <a:pPr marL="228600" lvl="1">
              <a:spcBef>
                <a:spcPts val="1000"/>
              </a:spcBef>
            </a:pPr>
            <a:r>
              <a:rPr lang="en-US" sz="2800" dirty="0">
                <a:latin typeface="Times New Roman" panose="02020603050405020304" pitchFamily="18" charset="0"/>
                <a:cs typeface="Times New Roman" panose="02020603050405020304" pitchFamily="18" charset="0"/>
              </a:rPr>
              <a:t>Sim</a:t>
            </a:r>
          </a:p>
          <a:p>
            <a:pPr marL="228600" lvl="1">
              <a:spcBef>
                <a:spcPts val="1000"/>
              </a:spcBef>
            </a:pPr>
            <a:r>
              <a:rPr lang="en-US" sz="2800" dirty="0">
                <a:latin typeface="Times New Roman" panose="02020603050405020304" pitchFamily="18" charset="0"/>
                <a:cs typeface="Times New Roman" panose="02020603050405020304" pitchFamily="18" charset="0"/>
              </a:rPr>
              <a:t>Price</a:t>
            </a:r>
          </a:p>
          <a:p>
            <a:pPr marL="228600" lvl="1">
              <a:spcBef>
                <a:spcPts val="1000"/>
              </a:spcBef>
            </a:pPr>
            <a:r>
              <a:rPr lang="en-US" sz="2800" dirty="0">
                <a:latin typeface="Times New Roman" panose="02020603050405020304" pitchFamily="18" charset="0"/>
                <a:cs typeface="Times New Roman" panose="02020603050405020304" pitchFamily="18" charset="0"/>
              </a:rPr>
              <a:t>Display</a:t>
            </a:r>
          </a:p>
          <a:p>
            <a:pPr marL="228600" lvl="1">
              <a:spcBef>
                <a:spcPts val="1000"/>
              </a:spcBef>
            </a:pPr>
            <a:r>
              <a:rPr lang="en-US" sz="2800" dirty="0">
                <a:latin typeface="Times New Roman" panose="02020603050405020304" pitchFamily="18" charset="0"/>
                <a:cs typeface="Times New Roman" panose="02020603050405020304" pitchFamily="18" charset="0"/>
              </a:rPr>
              <a:t>Camera</a:t>
            </a:r>
          </a:p>
          <a:p>
            <a:pPr marL="228600" lvl="1">
              <a:spcBef>
                <a:spcPts val="1000"/>
              </a:spcBef>
            </a:pPr>
            <a:r>
              <a:rPr lang="en-US" sz="2800" dirty="0">
                <a:latin typeface="Times New Roman" panose="02020603050405020304" pitchFamily="18" charset="0"/>
                <a:cs typeface="Times New Roman" panose="02020603050405020304" pitchFamily="18" charset="0"/>
              </a:rPr>
              <a:t>Card</a:t>
            </a:r>
          </a:p>
        </p:txBody>
      </p:sp>
      <p:sp>
        <p:nvSpPr>
          <p:cNvPr id="4" name="TextBox 3">
            <a:extLst>
              <a:ext uri="{FF2B5EF4-FFF2-40B4-BE49-F238E27FC236}">
                <a16:creationId xmlns:a16="http://schemas.microsoft.com/office/drawing/2014/main" id="{11D4EF08-438F-F5D4-930B-345D8142CAB1}"/>
              </a:ext>
            </a:extLst>
          </p:cNvPr>
          <p:cNvSpPr txBox="1"/>
          <p:nvPr/>
        </p:nvSpPr>
        <p:spPr>
          <a:xfrm>
            <a:off x="4107656" y="2413337"/>
            <a:ext cx="3493294" cy="2821285"/>
          </a:xfrm>
          <a:prstGeom prst="rect">
            <a:avLst/>
          </a:prstGeom>
          <a:noFill/>
        </p:spPr>
        <p:txBody>
          <a:bodyPr wrap="square" rtlCol="0">
            <a:spAutoFit/>
          </a:bodyPr>
          <a:lstStyle/>
          <a:p>
            <a:pPr marL="228600" lvl="1" indent="-228600">
              <a:lnSpc>
                <a:spcPct val="90000"/>
              </a:lnSpc>
              <a:spcBef>
                <a:spcPts val="100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Rating</a:t>
            </a:r>
          </a:p>
          <a:p>
            <a:pPr marL="228600" lvl="1" indent="-228600">
              <a:lnSpc>
                <a:spcPct val="90000"/>
              </a:lnSpc>
              <a:spcBef>
                <a:spcPts val="100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OS</a:t>
            </a:r>
          </a:p>
          <a:p>
            <a:pPr marL="228600" lvl="1" indent="-228600">
              <a:lnSpc>
                <a:spcPct val="90000"/>
              </a:lnSpc>
              <a:spcBef>
                <a:spcPts val="100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Processor</a:t>
            </a:r>
          </a:p>
          <a:p>
            <a:pPr marL="228600" lvl="1" indent="-228600">
              <a:lnSpc>
                <a:spcPct val="90000"/>
              </a:lnSpc>
              <a:spcBef>
                <a:spcPts val="100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RAM</a:t>
            </a:r>
          </a:p>
          <a:p>
            <a:pPr marL="228600" lvl="1" indent="-228600">
              <a:lnSpc>
                <a:spcPct val="90000"/>
              </a:lnSpc>
              <a:spcBef>
                <a:spcPts val="100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Battery</a:t>
            </a:r>
          </a:p>
          <a:p>
            <a:endParaRPr lang="en-IN" dirty="0"/>
          </a:p>
        </p:txBody>
      </p:sp>
      <p:sp>
        <p:nvSpPr>
          <p:cNvPr id="7" name="AutoShape 4" descr="A visually appealing slide background for a presentation titled 'Smartphone Data Analysis Using R'. For the 'Introduction' slide, show a collage of modern smartphones, data graphs, and code snippets. For the 'Data Explanation' slide, include visual elements like structured data tables, bar charts, and pie charts, symbolizing data insights. For the 'Data Cleaning' slide, depict a before-and-after scenario of messy data transformed into clean, organized rows and columns with vibrant colors and a digital theme. All elements should be professional and tech-oriented.">
            <a:extLst>
              <a:ext uri="{FF2B5EF4-FFF2-40B4-BE49-F238E27FC236}">
                <a16:creationId xmlns:a16="http://schemas.microsoft.com/office/drawing/2014/main" id="{66CE3A7B-B83E-E4D3-41A6-7251544BE83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4220208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45A012F-AB94-BB8B-0F6E-337BD1C96A8D}"/>
              </a:ext>
            </a:extLst>
          </p:cNvPr>
          <p:cNvSpPr/>
          <p:nvPr/>
        </p:nvSpPr>
        <p:spPr>
          <a:xfrm>
            <a:off x="0" y="365125"/>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7B5EA67-31FC-8105-1B6F-7037BD2C977B}"/>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DATA CLEANING PROCESS</a:t>
            </a:r>
          </a:p>
        </p:txBody>
      </p:sp>
      <p:graphicFrame>
        <p:nvGraphicFramePr>
          <p:cNvPr id="4" name="Content Placeholder 3">
            <a:extLst>
              <a:ext uri="{FF2B5EF4-FFF2-40B4-BE49-F238E27FC236}">
                <a16:creationId xmlns:a16="http://schemas.microsoft.com/office/drawing/2014/main" id="{B3896A64-D65F-3088-7751-974655861086}"/>
              </a:ext>
            </a:extLst>
          </p:cNvPr>
          <p:cNvGraphicFramePr>
            <a:graphicFrameLocks noGrp="1"/>
          </p:cNvGraphicFramePr>
          <p:nvPr>
            <p:ph idx="1"/>
            <p:extLst>
              <p:ext uri="{D42A27DB-BD31-4B8C-83A1-F6EECF244321}">
                <p14:modId xmlns:p14="http://schemas.microsoft.com/office/powerpoint/2010/main" val="3540066001"/>
              </p:ext>
            </p:extLst>
          </p:nvPr>
        </p:nvGraphicFramePr>
        <p:xfrm>
          <a:off x="677718" y="1413655"/>
          <a:ext cx="10836564" cy="5120640"/>
        </p:xfrm>
        <a:graphic>
          <a:graphicData uri="http://schemas.openxmlformats.org/drawingml/2006/table">
            <a:tbl>
              <a:tblPr firstRow="1" bandRow="1">
                <a:tableStyleId>{5C22544A-7EE6-4342-B048-85BDC9FD1C3A}</a:tableStyleId>
              </a:tblPr>
              <a:tblGrid>
                <a:gridCol w="3612188">
                  <a:extLst>
                    <a:ext uri="{9D8B030D-6E8A-4147-A177-3AD203B41FA5}">
                      <a16:colId xmlns:a16="http://schemas.microsoft.com/office/drawing/2014/main" val="1885844155"/>
                    </a:ext>
                  </a:extLst>
                </a:gridCol>
                <a:gridCol w="3612188">
                  <a:extLst>
                    <a:ext uri="{9D8B030D-6E8A-4147-A177-3AD203B41FA5}">
                      <a16:colId xmlns:a16="http://schemas.microsoft.com/office/drawing/2014/main" val="2961696669"/>
                    </a:ext>
                  </a:extLst>
                </a:gridCol>
                <a:gridCol w="3612188">
                  <a:extLst>
                    <a:ext uri="{9D8B030D-6E8A-4147-A177-3AD203B41FA5}">
                      <a16:colId xmlns:a16="http://schemas.microsoft.com/office/drawing/2014/main" val="1932225015"/>
                    </a:ext>
                  </a:extLst>
                </a:gridCol>
              </a:tblGrid>
              <a:tr h="335708">
                <a:tc>
                  <a:txBody>
                    <a:bodyPr/>
                    <a:lstStyle/>
                    <a:p>
                      <a:r>
                        <a:rPr lang="en-IN" dirty="0"/>
                        <a:t>Category</a:t>
                      </a:r>
                    </a:p>
                  </a:txBody>
                  <a:tcPr/>
                </a:tc>
                <a:tc>
                  <a:txBody>
                    <a:bodyPr/>
                    <a:lstStyle/>
                    <a:p>
                      <a:r>
                        <a:rPr lang="en-IN" dirty="0"/>
                        <a:t>Before cleaning</a:t>
                      </a:r>
                    </a:p>
                  </a:txBody>
                  <a:tcPr/>
                </a:tc>
                <a:tc>
                  <a:txBody>
                    <a:bodyPr/>
                    <a:lstStyle/>
                    <a:p>
                      <a:r>
                        <a:rPr lang="en-IN" dirty="0"/>
                        <a:t>After Cleaning</a:t>
                      </a:r>
                    </a:p>
                  </a:txBody>
                  <a:tcPr/>
                </a:tc>
                <a:extLst>
                  <a:ext uri="{0D108BD9-81ED-4DB2-BD59-A6C34878D82A}">
                    <a16:rowId xmlns:a16="http://schemas.microsoft.com/office/drawing/2014/main" val="2315406252"/>
                  </a:ext>
                </a:extLst>
              </a:tr>
              <a:tr h="335708">
                <a:tc>
                  <a:txBody>
                    <a:bodyPr/>
                    <a:lstStyle/>
                    <a:p>
                      <a:r>
                        <a:rPr lang="en-IN" dirty="0"/>
                        <a:t>Price </a:t>
                      </a:r>
                    </a:p>
                  </a:txBody>
                  <a:tcPr/>
                </a:tc>
                <a:tc>
                  <a:txBody>
                    <a:bodyPr/>
                    <a:lstStyle/>
                    <a:p>
                      <a:r>
                        <a:rPr lang="en-IN" sz="1800" b="1" kern="1200" dirty="0">
                          <a:solidFill>
                            <a:schemeClr val="dk1"/>
                          </a:solidFill>
                          <a:effectLst/>
                          <a:latin typeface="+mn-lt"/>
                          <a:ea typeface="+mn-ea"/>
                          <a:cs typeface="+mn-cs"/>
                        </a:rPr>
                        <a:t>“â‚¹54,999”</a:t>
                      </a:r>
                      <a:r>
                        <a:rPr lang="en-IN" sz="1800" kern="1200" dirty="0">
                          <a:solidFill>
                            <a:schemeClr val="dk1"/>
                          </a:solidFill>
                          <a:effectLst/>
                          <a:latin typeface="+mn-lt"/>
                          <a:ea typeface="+mn-ea"/>
                          <a:cs typeface="+mn-cs"/>
                        </a:rPr>
                        <a:t> </a:t>
                      </a:r>
                      <a:endParaRPr lang="en-IN" dirty="0"/>
                    </a:p>
                  </a:txBody>
                  <a:tcPr/>
                </a:tc>
                <a:tc>
                  <a:txBody>
                    <a:bodyPr/>
                    <a:lstStyle/>
                    <a:p>
                      <a:r>
                        <a:rPr lang="en-IN" sz="1800" b="1" kern="1200" dirty="0">
                          <a:solidFill>
                            <a:schemeClr val="dk1"/>
                          </a:solidFill>
                          <a:effectLst/>
                          <a:latin typeface="+mn-lt"/>
                          <a:ea typeface="+mn-ea"/>
                          <a:cs typeface="+mn-cs"/>
                        </a:rPr>
                        <a:t>54,999</a:t>
                      </a:r>
                    </a:p>
                  </a:txBody>
                  <a:tcPr/>
                </a:tc>
                <a:extLst>
                  <a:ext uri="{0D108BD9-81ED-4DB2-BD59-A6C34878D82A}">
                    <a16:rowId xmlns:a16="http://schemas.microsoft.com/office/drawing/2014/main" val="711935678"/>
                  </a:ext>
                </a:extLst>
              </a:tr>
              <a:tr h="1076106">
                <a:tc>
                  <a:txBody>
                    <a:bodyPr/>
                    <a:lstStyle/>
                    <a:p>
                      <a:r>
                        <a:rPr lang="en-IN" dirty="0"/>
                        <a:t>Ram and storage </a:t>
                      </a:r>
                    </a:p>
                  </a:txBody>
                  <a:tcPr/>
                </a:tc>
                <a:tc>
                  <a:txBody>
                    <a:bodyPr/>
                    <a:lstStyle/>
                    <a:p>
                      <a:r>
                        <a:rPr lang="en-IN" dirty="0"/>
                        <a:t>Both the categories were in the same field like </a:t>
                      </a:r>
                    </a:p>
                    <a:p>
                      <a:endParaRPr lang="en-IN" dirty="0"/>
                    </a:p>
                    <a:p>
                      <a:endParaRPr lang="en-IN" dirty="0"/>
                    </a:p>
                  </a:txBody>
                  <a:tcPr/>
                </a:tc>
                <a:tc>
                  <a:txBody>
                    <a:bodyPr/>
                    <a:lstStyle/>
                    <a:p>
                      <a:r>
                        <a:rPr lang="en-IN" dirty="0"/>
                        <a:t>Separated ram capacity and internal memory into two columns.</a:t>
                      </a:r>
                    </a:p>
                  </a:txBody>
                  <a:tcPr/>
                </a:tc>
                <a:extLst>
                  <a:ext uri="{0D108BD9-81ED-4DB2-BD59-A6C34878D82A}">
                    <a16:rowId xmlns:a16="http://schemas.microsoft.com/office/drawing/2014/main" val="1805023709"/>
                  </a:ext>
                </a:extLst>
              </a:tr>
              <a:tr h="1324438">
                <a:tc>
                  <a:txBody>
                    <a:bodyPr/>
                    <a:lstStyle/>
                    <a:p>
                      <a:r>
                        <a:rPr lang="en-IN" dirty="0"/>
                        <a:t>Battery data</a:t>
                      </a:r>
                    </a:p>
                  </a:txBody>
                  <a:tcPr/>
                </a:tc>
                <a:tc>
                  <a:txBody>
                    <a:bodyPr/>
                    <a:lstStyle/>
                    <a:p>
                      <a:r>
                        <a:rPr lang="en-IN" dirty="0"/>
                        <a:t>Battery percentage and fast charging were in the same field </a:t>
                      </a:r>
                    </a:p>
                    <a:p>
                      <a:endParaRPr lang="en-IN" dirty="0"/>
                    </a:p>
                    <a:p>
                      <a:endParaRPr lang="en-IN" dirty="0"/>
                    </a:p>
                    <a:p>
                      <a:endParaRPr lang="en-IN" dirty="0"/>
                    </a:p>
                  </a:txBody>
                  <a:tcPr/>
                </a:tc>
                <a:tc>
                  <a:txBody>
                    <a:bodyPr/>
                    <a:lstStyle/>
                    <a:p>
                      <a:r>
                        <a:rPr lang="en-IN" dirty="0"/>
                        <a:t>Converted the battery into 3 columns, “Battery capacity”, “fast charging availability” and “fast charging capacity </a:t>
                      </a:r>
                    </a:p>
                    <a:p>
                      <a:endParaRPr lang="en-IN" dirty="0"/>
                    </a:p>
                  </a:txBody>
                  <a:tcPr/>
                </a:tc>
                <a:extLst>
                  <a:ext uri="{0D108BD9-81ED-4DB2-BD59-A6C34878D82A}">
                    <a16:rowId xmlns:a16="http://schemas.microsoft.com/office/drawing/2014/main" val="3575562646"/>
                  </a:ext>
                </a:extLst>
              </a:tr>
              <a:tr h="1572770">
                <a:tc>
                  <a:txBody>
                    <a:bodyPr/>
                    <a:lstStyle/>
                    <a:p>
                      <a:r>
                        <a:rPr lang="en-IN" dirty="0"/>
                        <a:t>Display Details</a:t>
                      </a:r>
                    </a:p>
                  </a:txBody>
                  <a:tcPr/>
                </a:tc>
                <a:tc>
                  <a:txBody>
                    <a:bodyPr/>
                    <a:lstStyle/>
                    <a:p>
                      <a:r>
                        <a:rPr lang="en-US" dirty="0"/>
                        <a:t>Extract display size, resolution, and refresh rate into separate columns.</a:t>
                      </a:r>
                      <a:br>
                        <a:rPr lang="en-US" dirty="0"/>
                      </a:br>
                      <a:r>
                        <a:rPr lang="en-US" dirty="0"/>
                        <a:t>Ensure consistent formats (e.g., numeric values, standardized resolution format).</a:t>
                      </a:r>
                      <a:endParaRPr lang="en-IN" dirty="0"/>
                    </a:p>
                  </a:txBody>
                  <a:tcPr/>
                </a:tc>
                <a:tc>
                  <a:txBody>
                    <a:bodyPr/>
                    <a:lstStyle/>
                    <a:p>
                      <a:pPr marL="0" indent="0">
                        <a:buFont typeface="Arial" panose="020B0604020202020204" pitchFamily="34" charset="0"/>
                        <a:buNone/>
                      </a:pPr>
                      <a:r>
                        <a:rPr lang="en-US" dirty="0"/>
                        <a:t>Separate columns:</a:t>
                      </a:r>
                    </a:p>
                    <a:p>
                      <a:pPr marL="285750" indent="-285750">
                        <a:buFont typeface="Arial" panose="020B0604020202020204" pitchFamily="34" charset="0"/>
                        <a:buChar char="•"/>
                      </a:pPr>
                      <a:r>
                        <a:rPr lang="en-US" dirty="0"/>
                        <a:t>display_size (in inches)</a:t>
                      </a:r>
                    </a:p>
                    <a:p>
                      <a:pPr marL="285750" indent="-285750">
                        <a:buFont typeface="Arial" panose="020B0604020202020204" pitchFamily="34" charset="0"/>
                        <a:buChar char="•"/>
                      </a:pPr>
                      <a:r>
                        <a:rPr lang="en-US" dirty="0" err="1"/>
                        <a:t>display_resolution</a:t>
                      </a:r>
                      <a:r>
                        <a:rPr lang="en-US" dirty="0"/>
                        <a:t> (e.g., "1080x2400")</a:t>
                      </a:r>
                    </a:p>
                    <a:p>
                      <a:pPr marL="285750" indent="-285750">
                        <a:buFont typeface="Arial" panose="020B0604020202020204" pitchFamily="34" charset="0"/>
                        <a:buChar char="•"/>
                      </a:pPr>
                      <a:r>
                        <a:rPr lang="en-US" dirty="0" err="1"/>
                        <a:t>refresh_rate</a:t>
                      </a:r>
                      <a:r>
                        <a:rPr lang="en-US" dirty="0"/>
                        <a:t> (in Hz).</a:t>
                      </a:r>
                      <a:endParaRPr lang="en-IN" dirty="0"/>
                    </a:p>
                  </a:txBody>
                  <a:tcPr/>
                </a:tc>
                <a:extLst>
                  <a:ext uri="{0D108BD9-81ED-4DB2-BD59-A6C34878D82A}">
                    <a16:rowId xmlns:a16="http://schemas.microsoft.com/office/drawing/2014/main" val="414106013"/>
                  </a:ext>
                </a:extLst>
              </a:tr>
            </a:tbl>
          </a:graphicData>
        </a:graphic>
      </p:graphicFrame>
      <p:pic>
        <p:nvPicPr>
          <p:cNvPr id="5" name="Picture 4">
            <a:extLst>
              <a:ext uri="{FF2B5EF4-FFF2-40B4-BE49-F238E27FC236}">
                <a16:creationId xmlns:a16="http://schemas.microsoft.com/office/drawing/2014/main" id="{4E59E2BA-9ABE-EC95-979F-CB3A57DF5233}"/>
              </a:ext>
            </a:extLst>
          </p:cNvPr>
          <p:cNvPicPr>
            <a:picLocks noChangeAspect="1"/>
          </p:cNvPicPr>
          <p:nvPr/>
        </p:nvPicPr>
        <p:blipFill rotWithShape="1">
          <a:blip r:embed="rId2"/>
          <a:srcRect l="56248" t="32877" b="37443"/>
          <a:stretch/>
        </p:blipFill>
        <p:spPr bwMode="auto">
          <a:xfrm>
            <a:off x="4509223" y="2819022"/>
            <a:ext cx="3144521" cy="465825"/>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48250BD9-A24F-9EF9-B730-81D51E30445D}"/>
              </a:ext>
            </a:extLst>
          </p:cNvPr>
          <p:cNvPicPr>
            <a:picLocks noChangeAspect="1"/>
          </p:cNvPicPr>
          <p:nvPr/>
        </p:nvPicPr>
        <p:blipFill>
          <a:blip r:embed="rId3"/>
          <a:srcRect t="35462" b="1"/>
          <a:stretch/>
        </p:blipFill>
        <p:spPr>
          <a:xfrm>
            <a:off x="4385332" y="4103584"/>
            <a:ext cx="3421336" cy="619193"/>
          </a:xfrm>
          <a:prstGeom prst="rect">
            <a:avLst/>
          </a:prstGeom>
        </p:spPr>
      </p:pic>
    </p:spTree>
    <p:extLst>
      <p:ext uri="{BB962C8B-B14F-4D97-AF65-F5344CB8AC3E}">
        <p14:creationId xmlns:p14="http://schemas.microsoft.com/office/powerpoint/2010/main" val="2813283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CF851-A7F1-D88A-4E0E-8346BC4A4CC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7D79F45-B299-8E29-DD81-BA7C35BEDC48}"/>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EEA707B-AC9E-4FC3-11EC-A22BE57199C9}"/>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DATA CLEANING PROCESS</a:t>
            </a:r>
          </a:p>
        </p:txBody>
      </p:sp>
      <p:graphicFrame>
        <p:nvGraphicFramePr>
          <p:cNvPr id="4" name="Content Placeholder 3">
            <a:extLst>
              <a:ext uri="{FF2B5EF4-FFF2-40B4-BE49-F238E27FC236}">
                <a16:creationId xmlns:a16="http://schemas.microsoft.com/office/drawing/2014/main" id="{79752C29-BD4E-0E19-667C-CD1B1CBDEF45}"/>
              </a:ext>
            </a:extLst>
          </p:cNvPr>
          <p:cNvGraphicFramePr>
            <a:graphicFrameLocks noGrp="1"/>
          </p:cNvGraphicFramePr>
          <p:nvPr>
            <p:ph idx="1"/>
          </p:nvPr>
        </p:nvGraphicFramePr>
        <p:xfrm>
          <a:off x="838200" y="2071743"/>
          <a:ext cx="10515597" cy="301752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885844155"/>
                    </a:ext>
                  </a:extLst>
                </a:gridCol>
                <a:gridCol w="3944258">
                  <a:extLst>
                    <a:ext uri="{9D8B030D-6E8A-4147-A177-3AD203B41FA5}">
                      <a16:colId xmlns:a16="http://schemas.microsoft.com/office/drawing/2014/main" val="2961696669"/>
                    </a:ext>
                  </a:extLst>
                </a:gridCol>
                <a:gridCol w="3066140">
                  <a:extLst>
                    <a:ext uri="{9D8B030D-6E8A-4147-A177-3AD203B41FA5}">
                      <a16:colId xmlns:a16="http://schemas.microsoft.com/office/drawing/2014/main" val="1932225015"/>
                    </a:ext>
                  </a:extLst>
                </a:gridCol>
              </a:tblGrid>
              <a:tr h="0">
                <a:tc>
                  <a:txBody>
                    <a:bodyPr/>
                    <a:lstStyle/>
                    <a:p>
                      <a:r>
                        <a:rPr lang="en-IN" dirty="0"/>
                        <a:t>Category</a:t>
                      </a:r>
                    </a:p>
                  </a:txBody>
                  <a:tcPr/>
                </a:tc>
                <a:tc>
                  <a:txBody>
                    <a:bodyPr/>
                    <a:lstStyle/>
                    <a:p>
                      <a:r>
                        <a:rPr lang="en-IN" dirty="0"/>
                        <a:t>Before cleaning</a:t>
                      </a:r>
                    </a:p>
                  </a:txBody>
                  <a:tcPr/>
                </a:tc>
                <a:tc>
                  <a:txBody>
                    <a:bodyPr/>
                    <a:lstStyle/>
                    <a:p>
                      <a:r>
                        <a:rPr lang="en-IN" dirty="0"/>
                        <a:t>After Cleaning</a:t>
                      </a:r>
                    </a:p>
                  </a:txBody>
                  <a:tcPr/>
                </a:tc>
                <a:extLst>
                  <a:ext uri="{0D108BD9-81ED-4DB2-BD59-A6C34878D82A}">
                    <a16:rowId xmlns:a16="http://schemas.microsoft.com/office/drawing/2014/main" val="2315406252"/>
                  </a:ext>
                </a:extLst>
              </a:tr>
              <a:tr h="370840">
                <a:tc>
                  <a:txBody>
                    <a:bodyPr/>
                    <a:lstStyle/>
                    <a:p>
                      <a:r>
                        <a:rPr lang="en-IN" dirty="0"/>
                        <a:t>Brand Names</a:t>
                      </a:r>
                    </a:p>
                  </a:txBody>
                  <a:tcPr/>
                </a:tc>
                <a:tc>
                  <a:txBody>
                    <a:bodyPr/>
                    <a:lstStyle/>
                    <a:p>
                      <a:r>
                        <a:rPr lang="en-US" dirty="0"/>
                        <a:t>Parse the model column to extract the brand_name. Standardize brand names (e.g., "Samsung" instead of "samsung").</a:t>
                      </a:r>
                      <a:endParaRPr lang="en-IN" dirty="0"/>
                    </a:p>
                  </a:txBody>
                  <a:tcPr/>
                </a:tc>
                <a:tc>
                  <a:txBody>
                    <a:bodyPr/>
                    <a:lstStyle/>
                    <a:p>
                      <a:r>
                        <a:rPr lang="en-US" dirty="0"/>
                        <a:t>New column brand_name (e.g., "Samsung", "Apple", "OnePlus").</a:t>
                      </a:r>
                      <a:endParaRPr lang="en-IN" dirty="0"/>
                    </a:p>
                  </a:txBody>
                  <a:tcPr/>
                </a:tc>
                <a:extLst>
                  <a:ext uri="{0D108BD9-81ED-4DB2-BD59-A6C34878D82A}">
                    <a16:rowId xmlns:a16="http://schemas.microsoft.com/office/drawing/2014/main" val="711935678"/>
                  </a:ext>
                </a:extLst>
              </a:tr>
              <a:tr h="370840">
                <a:tc>
                  <a:txBody>
                    <a:bodyPr/>
                    <a:lstStyle/>
                    <a:p>
                      <a:r>
                        <a:rPr lang="en-IN" dirty="0"/>
                        <a:t>Extended Memory Availability</a:t>
                      </a:r>
                    </a:p>
                  </a:txBody>
                  <a:tcPr/>
                </a:tc>
                <a:tc>
                  <a:txBody>
                    <a:bodyPr/>
                    <a:lstStyle/>
                    <a:p>
                      <a:r>
                        <a:rPr lang="en-US" dirty="0"/>
                        <a:t>Add a binary column extended_memory (1 = Yes, 0 = No).</a:t>
                      </a:r>
                      <a:br>
                        <a:rPr lang="en-US" dirty="0"/>
                      </a:br>
                      <a:r>
                        <a:rPr lang="en-US" dirty="0"/>
                        <a:t>Extract the memory limit into a column memory_limit (e.g., "512 GB").</a:t>
                      </a:r>
                      <a:endParaRPr lang="en-IN" dirty="0"/>
                    </a:p>
                  </a:txBody>
                  <a:tcPr/>
                </a:tc>
                <a:tc>
                  <a:txBody>
                    <a:bodyPr/>
                    <a:lstStyle/>
                    <a:p>
                      <a:r>
                        <a:rPr lang="en-US" dirty="0"/>
                        <a:t>New columns:</a:t>
                      </a:r>
                      <a:br>
                        <a:rPr lang="en-US" dirty="0"/>
                      </a:br>
                      <a:r>
                        <a:rPr lang="en-US" dirty="0"/>
                        <a:t>extended_memory (e.g., 1 or 0)</a:t>
                      </a:r>
                      <a:br>
                        <a:rPr lang="en-US" dirty="0"/>
                      </a:br>
                      <a:r>
                        <a:rPr lang="en-US" dirty="0"/>
                        <a:t>memory_limit (e.g., "512 GB" or "No Limit").</a:t>
                      </a:r>
                      <a:endParaRPr lang="en-IN" dirty="0"/>
                    </a:p>
                  </a:txBody>
                  <a:tcPr/>
                </a:tc>
                <a:extLst>
                  <a:ext uri="{0D108BD9-81ED-4DB2-BD59-A6C34878D82A}">
                    <a16:rowId xmlns:a16="http://schemas.microsoft.com/office/drawing/2014/main" val="1805023709"/>
                  </a:ext>
                </a:extLst>
              </a:tr>
            </a:tbl>
          </a:graphicData>
        </a:graphic>
      </p:graphicFrame>
    </p:spTree>
    <p:extLst>
      <p:ext uri="{BB962C8B-B14F-4D97-AF65-F5344CB8AC3E}">
        <p14:creationId xmlns:p14="http://schemas.microsoft.com/office/powerpoint/2010/main" val="2506898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C407209-8586-8069-CA94-EEDF77ECAD88}"/>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6A34365-8508-AC41-6752-75F0328936BB}"/>
              </a:ext>
            </a:extLst>
          </p:cNvPr>
          <p:cNvSpPr>
            <a:spLocks noGrp="1"/>
          </p:cNvSpPr>
          <p:nvPr>
            <p:ph type="title"/>
          </p:nvPr>
        </p:nvSpPr>
        <p:spPr>
          <a:xfrm>
            <a:off x="838200" y="365125"/>
            <a:ext cx="10515600" cy="747579"/>
          </a:xfrm>
        </p:spPr>
        <p:txBody>
          <a:bodyPr>
            <a:normAutofit/>
          </a:bodyPr>
          <a:lstStyle/>
          <a:p>
            <a:r>
              <a:rPr lang="en-US" dirty="0">
                <a:latin typeface="Times New Roman" panose="02020603050405020304" pitchFamily="18" charset="0"/>
                <a:cs typeface="Times New Roman" panose="02020603050405020304" pitchFamily="18" charset="0"/>
              </a:rPr>
              <a:t>DESCRIPTIVE STATISTICS</a:t>
            </a:r>
          </a:p>
        </p:txBody>
      </p:sp>
      <p:graphicFrame>
        <p:nvGraphicFramePr>
          <p:cNvPr id="7" name="Content Placeholder 6">
            <a:extLst>
              <a:ext uri="{FF2B5EF4-FFF2-40B4-BE49-F238E27FC236}">
                <a16:creationId xmlns:a16="http://schemas.microsoft.com/office/drawing/2014/main" id="{FEAD0E75-5A24-74E2-5389-ECB092D430E7}"/>
              </a:ext>
            </a:extLst>
          </p:cNvPr>
          <p:cNvGraphicFramePr>
            <a:graphicFrameLocks noGrp="1"/>
          </p:cNvGraphicFramePr>
          <p:nvPr>
            <p:ph idx="1"/>
            <p:extLst>
              <p:ext uri="{D42A27DB-BD31-4B8C-83A1-F6EECF244321}">
                <p14:modId xmlns:p14="http://schemas.microsoft.com/office/powerpoint/2010/main" val="349809764"/>
              </p:ext>
            </p:extLst>
          </p:nvPr>
        </p:nvGraphicFramePr>
        <p:xfrm>
          <a:off x="661012" y="1112705"/>
          <a:ext cx="10692787" cy="5577433"/>
        </p:xfrm>
        <a:graphic>
          <a:graphicData uri="http://schemas.openxmlformats.org/drawingml/2006/table">
            <a:tbl>
              <a:tblPr firstRow="1" bandRow="1">
                <a:tableStyleId>{00A15C55-8517-42AA-B614-E9B94910E393}</a:tableStyleId>
              </a:tblPr>
              <a:tblGrid>
                <a:gridCol w="1527541">
                  <a:extLst>
                    <a:ext uri="{9D8B030D-6E8A-4147-A177-3AD203B41FA5}">
                      <a16:colId xmlns:a16="http://schemas.microsoft.com/office/drawing/2014/main" val="3658688163"/>
                    </a:ext>
                  </a:extLst>
                </a:gridCol>
                <a:gridCol w="1527541">
                  <a:extLst>
                    <a:ext uri="{9D8B030D-6E8A-4147-A177-3AD203B41FA5}">
                      <a16:colId xmlns:a16="http://schemas.microsoft.com/office/drawing/2014/main" val="576851791"/>
                    </a:ext>
                  </a:extLst>
                </a:gridCol>
                <a:gridCol w="1527541">
                  <a:extLst>
                    <a:ext uri="{9D8B030D-6E8A-4147-A177-3AD203B41FA5}">
                      <a16:colId xmlns:a16="http://schemas.microsoft.com/office/drawing/2014/main" val="2934781516"/>
                    </a:ext>
                  </a:extLst>
                </a:gridCol>
                <a:gridCol w="1527541">
                  <a:extLst>
                    <a:ext uri="{9D8B030D-6E8A-4147-A177-3AD203B41FA5}">
                      <a16:colId xmlns:a16="http://schemas.microsoft.com/office/drawing/2014/main" val="422762952"/>
                    </a:ext>
                  </a:extLst>
                </a:gridCol>
                <a:gridCol w="1527541">
                  <a:extLst>
                    <a:ext uri="{9D8B030D-6E8A-4147-A177-3AD203B41FA5}">
                      <a16:colId xmlns:a16="http://schemas.microsoft.com/office/drawing/2014/main" val="3994282628"/>
                    </a:ext>
                  </a:extLst>
                </a:gridCol>
                <a:gridCol w="1527541">
                  <a:extLst>
                    <a:ext uri="{9D8B030D-6E8A-4147-A177-3AD203B41FA5}">
                      <a16:colId xmlns:a16="http://schemas.microsoft.com/office/drawing/2014/main" val="1128377304"/>
                    </a:ext>
                  </a:extLst>
                </a:gridCol>
                <a:gridCol w="1527541">
                  <a:extLst>
                    <a:ext uri="{9D8B030D-6E8A-4147-A177-3AD203B41FA5}">
                      <a16:colId xmlns:a16="http://schemas.microsoft.com/office/drawing/2014/main" val="622777891"/>
                    </a:ext>
                  </a:extLst>
                </a:gridCol>
              </a:tblGrid>
              <a:tr h="408352">
                <a:tc>
                  <a:txBody>
                    <a:bodyPr/>
                    <a:lstStyle/>
                    <a:p>
                      <a:r>
                        <a:rPr lang="en-US" dirty="0">
                          <a:latin typeface="Times New Roman" panose="02020603050405020304" pitchFamily="18" charset="0"/>
                          <a:cs typeface="Times New Roman" panose="02020603050405020304" pitchFamily="18" charset="0"/>
                        </a:rPr>
                        <a:t>Variable</a:t>
                      </a:r>
                    </a:p>
                  </a:txBody>
                  <a:tcPr/>
                </a:tc>
                <a:tc>
                  <a:txBody>
                    <a:bodyPr/>
                    <a:lstStyle/>
                    <a:p>
                      <a:r>
                        <a:rPr lang="en-US" dirty="0">
                          <a:latin typeface="Times New Roman" panose="02020603050405020304" pitchFamily="18" charset="0"/>
                          <a:cs typeface="Times New Roman" panose="02020603050405020304" pitchFamily="18" charset="0"/>
                        </a:rPr>
                        <a:t>Minimum</a:t>
                      </a:r>
                    </a:p>
                  </a:txBody>
                  <a:tcPr/>
                </a:tc>
                <a:tc>
                  <a:txBody>
                    <a:bodyPr/>
                    <a:lstStyle/>
                    <a:p>
                      <a:r>
                        <a:rPr lang="en-US" dirty="0">
                          <a:latin typeface="Times New Roman" panose="02020603050405020304" pitchFamily="18" charset="0"/>
                          <a:cs typeface="Times New Roman" panose="02020603050405020304" pitchFamily="18" charset="0"/>
                        </a:rPr>
                        <a:t>1</a:t>
                      </a:r>
                      <a:r>
                        <a:rPr lang="en-US" baseline="30000" dirty="0">
                          <a:latin typeface="Times New Roman" panose="02020603050405020304" pitchFamily="18" charset="0"/>
                          <a:cs typeface="Times New Roman" panose="02020603050405020304" pitchFamily="18" charset="0"/>
                        </a:rPr>
                        <a:t>st</a:t>
                      </a:r>
                      <a:r>
                        <a:rPr lang="en-US" dirty="0">
                          <a:latin typeface="Times New Roman" panose="02020603050405020304" pitchFamily="18" charset="0"/>
                          <a:cs typeface="Times New Roman" panose="02020603050405020304" pitchFamily="18" charset="0"/>
                        </a:rPr>
                        <a:t>  Quartile</a:t>
                      </a:r>
                    </a:p>
                  </a:txBody>
                  <a:tcPr/>
                </a:tc>
                <a:tc>
                  <a:txBody>
                    <a:bodyPr/>
                    <a:lstStyle/>
                    <a:p>
                      <a:r>
                        <a:rPr lang="en-US" dirty="0">
                          <a:latin typeface="Times New Roman" panose="02020603050405020304" pitchFamily="18" charset="0"/>
                          <a:cs typeface="Times New Roman" panose="02020603050405020304" pitchFamily="18" charset="0"/>
                        </a:rPr>
                        <a:t>Mean</a:t>
                      </a:r>
                    </a:p>
                  </a:txBody>
                  <a:tcPr/>
                </a:tc>
                <a:tc>
                  <a:txBody>
                    <a:bodyPr/>
                    <a:lstStyle/>
                    <a:p>
                      <a:r>
                        <a:rPr lang="en-US" dirty="0">
                          <a:latin typeface="Times New Roman" panose="02020603050405020304" pitchFamily="18" charset="0"/>
                          <a:cs typeface="Times New Roman" panose="02020603050405020304" pitchFamily="18" charset="0"/>
                        </a:rPr>
                        <a:t>Median</a:t>
                      </a:r>
                    </a:p>
                  </a:txBody>
                  <a:tcPr/>
                </a:tc>
                <a:tc>
                  <a:txBody>
                    <a:bodyPr/>
                    <a:lstStyle/>
                    <a:p>
                      <a:r>
                        <a:rPr lang="en-US" dirty="0">
                          <a:latin typeface="Times New Roman" panose="02020603050405020304" pitchFamily="18" charset="0"/>
                          <a:cs typeface="Times New Roman" panose="02020603050405020304" pitchFamily="18" charset="0"/>
                        </a:rPr>
                        <a:t>3</a:t>
                      </a:r>
                      <a:r>
                        <a:rPr lang="en-US" baseline="30000" dirty="0">
                          <a:latin typeface="Times New Roman" panose="02020603050405020304" pitchFamily="18" charset="0"/>
                          <a:cs typeface="Times New Roman" panose="02020603050405020304" pitchFamily="18" charset="0"/>
                        </a:rPr>
                        <a:t>rd</a:t>
                      </a:r>
                      <a:r>
                        <a:rPr lang="en-US" dirty="0">
                          <a:latin typeface="Times New Roman" panose="02020603050405020304" pitchFamily="18" charset="0"/>
                          <a:cs typeface="Times New Roman" panose="02020603050405020304" pitchFamily="18" charset="0"/>
                        </a:rPr>
                        <a:t>  Quartile</a:t>
                      </a:r>
                    </a:p>
                  </a:txBody>
                  <a:tcPr/>
                </a:tc>
                <a:tc>
                  <a:txBody>
                    <a:bodyPr/>
                    <a:lstStyle/>
                    <a:p>
                      <a:r>
                        <a:rPr lang="en-US" dirty="0">
                          <a:latin typeface="Times New Roman" panose="02020603050405020304" pitchFamily="18" charset="0"/>
                          <a:cs typeface="Times New Roman" panose="02020603050405020304" pitchFamily="18" charset="0"/>
                        </a:rPr>
                        <a:t>Maximum</a:t>
                      </a:r>
                    </a:p>
                  </a:txBody>
                  <a:tcPr/>
                </a:tc>
                <a:extLst>
                  <a:ext uri="{0D108BD9-81ED-4DB2-BD59-A6C34878D82A}">
                    <a16:rowId xmlns:a16="http://schemas.microsoft.com/office/drawing/2014/main" val="2273917969"/>
                  </a:ext>
                </a:extLst>
              </a:tr>
              <a:tr h="408352">
                <a:tc>
                  <a:txBody>
                    <a:bodyPr/>
                    <a:lstStyle/>
                    <a:p>
                      <a:r>
                        <a:rPr lang="en-US" dirty="0">
                          <a:latin typeface="Times New Roman" panose="02020603050405020304" pitchFamily="18" charset="0"/>
                          <a:cs typeface="Times New Roman" panose="02020603050405020304" pitchFamily="18" charset="0"/>
                        </a:rPr>
                        <a:t>price</a:t>
                      </a:r>
                    </a:p>
                  </a:txBody>
                  <a:tcPr/>
                </a:tc>
                <a:tc>
                  <a:txBody>
                    <a:bodyPr/>
                    <a:lstStyle/>
                    <a:p>
                      <a:r>
                        <a:rPr lang="en-US" dirty="0">
                          <a:latin typeface="Times New Roman" panose="02020603050405020304" pitchFamily="18" charset="0"/>
                          <a:cs typeface="Times New Roman" panose="02020603050405020304" pitchFamily="18" charset="0"/>
                        </a:rPr>
                        <a:t>6699</a:t>
                      </a:r>
                    </a:p>
                  </a:txBody>
                  <a:tcPr/>
                </a:tc>
                <a:tc>
                  <a:txBody>
                    <a:bodyPr/>
                    <a:lstStyle/>
                    <a:p>
                      <a:r>
                        <a:rPr lang="en-US" dirty="0">
                          <a:latin typeface="Times New Roman" panose="02020603050405020304" pitchFamily="18" charset="0"/>
                          <a:cs typeface="Times New Roman" panose="02020603050405020304" pitchFamily="18" charset="0"/>
                        </a:rPr>
                        <a:t>12999</a:t>
                      </a:r>
                    </a:p>
                  </a:txBody>
                  <a:tcPr/>
                </a:tc>
                <a:tc>
                  <a:txBody>
                    <a:bodyPr/>
                    <a:lstStyle/>
                    <a:p>
                      <a:r>
                        <a:rPr lang="en-US" dirty="0">
                          <a:latin typeface="Times New Roman" panose="02020603050405020304" pitchFamily="18" charset="0"/>
                          <a:cs typeface="Times New Roman" panose="02020603050405020304" pitchFamily="18" charset="0"/>
                        </a:rPr>
                        <a:t>18526</a:t>
                      </a:r>
                    </a:p>
                  </a:txBody>
                  <a:tcPr/>
                </a:tc>
                <a:tc>
                  <a:txBody>
                    <a:bodyPr/>
                    <a:lstStyle/>
                    <a:p>
                      <a:r>
                        <a:rPr lang="en-US" dirty="0">
                          <a:latin typeface="Times New Roman" panose="02020603050405020304" pitchFamily="18" charset="0"/>
                          <a:cs typeface="Times New Roman" panose="02020603050405020304" pitchFamily="18" charset="0"/>
                        </a:rPr>
                        <a:t>15999</a:t>
                      </a:r>
                    </a:p>
                  </a:txBody>
                  <a:tcPr/>
                </a:tc>
                <a:tc>
                  <a:txBody>
                    <a:bodyPr/>
                    <a:lstStyle/>
                    <a:p>
                      <a:r>
                        <a:rPr lang="en-US" dirty="0">
                          <a:latin typeface="Times New Roman" panose="02020603050405020304" pitchFamily="18" charset="0"/>
                          <a:cs typeface="Times New Roman" panose="02020603050405020304" pitchFamily="18" charset="0"/>
                        </a:rPr>
                        <a:t>19999</a:t>
                      </a:r>
                    </a:p>
                  </a:txBody>
                  <a:tcPr/>
                </a:tc>
                <a:tc>
                  <a:txBody>
                    <a:bodyPr/>
                    <a:lstStyle/>
                    <a:p>
                      <a:r>
                        <a:rPr lang="en-US" dirty="0">
                          <a:latin typeface="Times New Roman" panose="02020603050405020304" pitchFamily="18" charset="0"/>
                          <a:cs typeface="Times New Roman" panose="02020603050405020304" pitchFamily="18" charset="0"/>
                        </a:rPr>
                        <a:t>23999</a:t>
                      </a:r>
                    </a:p>
                  </a:txBody>
                  <a:tcPr/>
                </a:tc>
                <a:extLst>
                  <a:ext uri="{0D108BD9-81ED-4DB2-BD59-A6C34878D82A}">
                    <a16:rowId xmlns:a16="http://schemas.microsoft.com/office/drawing/2014/main" val="3951239552"/>
                  </a:ext>
                </a:extLst>
              </a:tr>
              <a:tr h="408352">
                <a:tc>
                  <a:txBody>
                    <a:bodyPr/>
                    <a:lstStyle/>
                    <a:p>
                      <a:r>
                        <a:rPr lang="en-US" dirty="0">
                          <a:latin typeface="Times New Roman" panose="02020603050405020304" pitchFamily="18" charset="0"/>
                          <a:cs typeface="Times New Roman" panose="02020603050405020304" pitchFamily="18" charset="0"/>
                        </a:rPr>
                        <a:t>rating</a:t>
                      </a:r>
                    </a:p>
                  </a:txBody>
                  <a:tcPr/>
                </a:tc>
                <a:tc>
                  <a:txBody>
                    <a:bodyPr/>
                    <a:lstStyle/>
                    <a:p>
                      <a:r>
                        <a:rPr lang="en-US" dirty="0">
                          <a:latin typeface="Times New Roman" panose="02020603050405020304" pitchFamily="18" charset="0"/>
                          <a:cs typeface="Times New Roman" panose="02020603050405020304" pitchFamily="18" charset="0"/>
                        </a:rPr>
                        <a:t>60.00</a:t>
                      </a:r>
                    </a:p>
                  </a:txBody>
                  <a:tcPr/>
                </a:tc>
                <a:tc>
                  <a:txBody>
                    <a:bodyPr/>
                    <a:lstStyle/>
                    <a:p>
                      <a:r>
                        <a:rPr lang="en-US" dirty="0">
                          <a:latin typeface="Times New Roman" panose="02020603050405020304" pitchFamily="18" charset="0"/>
                          <a:cs typeface="Times New Roman" panose="02020603050405020304" pitchFamily="18" charset="0"/>
                        </a:rPr>
                        <a:t>75.00</a:t>
                      </a:r>
                    </a:p>
                  </a:txBody>
                  <a:tcPr/>
                </a:tc>
                <a:tc>
                  <a:txBody>
                    <a:bodyPr/>
                    <a:lstStyle/>
                    <a:p>
                      <a:r>
                        <a:rPr lang="en-US" dirty="0">
                          <a:latin typeface="Times New Roman" panose="02020603050405020304" pitchFamily="18" charset="0"/>
                          <a:cs typeface="Times New Roman" panose="02020603050405020304" pitchFamily="18" charset="0"/>
                        </a:rPr>
                        <a:t>78.06</a:t>
                      </a:r>
                    </a:p>
                  </a:txBody>
                  <a:tcPr/>
                </a:tc>
                <a:tc>
                  <a:txBody>
                    <a:bodyPr/>
                    <a:lstStyle/>
                    <a:p>
                      <a:r>
                        <a:rPr lang="en-US" dirty="0">
                          <a:latin typeface="Times New Roman" panose="02020603050405020304" pitchFamily="18" charset="0"/>
                          <a:cs typeface="Times New Roman" panose="02020603050405020304" pitchFamily="18" charset="0"/>
                        </a:rPr>
                        <a:t>79.00</a:t>
                      </a:r>
                    </a:p>
                  </a:txBody>
                  <a:tcPr/>
                </a:tc>
                <a:tc>
                  <a:txBody>
                    <a:bodyPr/>
                    <a:lstStyle/>
                    <a:p>
                      <a:r>
                        <a:rPr lang="en-US" dirty="0">
                          <a:latin typeface="Times New Roman" panose="02020603050405020304" pitchFamily="18" charset="0"/>
                          <a:cs typeface="Times New Roman" panose="02020603050405020304" pitchFamily="18" charset="0"/>
                        </a:rPr>
                        <a:t>82.00</a:t>
                      </a:r>
                    </a:p>
                  </a:txBody>
                  <a:tcPr/>
                </a:tc>
                <a:tc>
                  <a:txBody>
                    <a:bodyPr/>
                    <a:lstStyle/>
                    <a:p>
                      <a:r>
                        <a:rPr lang="en-US" dirty="0">
                          <a:latin typeface="Times New Roman" panose="02020603050405020304" pitchFamily="18" charset="0"/>
                          <a:cs typeface="Times New Roman" panose="02020603050405020304" pitchFamily="18" charset="0"/>
                        </a:rPr>
                        <a:t>89.00</a:t>
                      </a:r>
                    </a:p>
                  </a:txBody>
                  <a:tcPr/>
                </a:tc>
                <a:extLst>
                  <a:ext uri="{0D108BD9-81ED-4DB2-BD59-A6C34878D82A}">
                    <a16:rowId xmlns:a16="http://schemas.microsoft.com/office/drawing/2014/main" val="2065252253"/>
                  </a:ext>
                </a:extLst>
              </a:tr>
              <a:tr h="408352">
                <a:tc>
                  <a:txBody>
                    <a:bodyPr/>
                    <a:lstStyle/>
                    <a:p>
                      <a:r>
                        <a:rPr lang="en-US" dirty="0">
                          <a:latin typeface="Times New Roman" panose="02020603050405020304" pitchFamily="18" charset="0"/>
                          <a:cs typeface="Times New Roman" panose="02020603050405020304" pitchFamily="18" charset="0"/>
                        </a:rPr>
                        <a:t>Num cores</a:t>
                      </a:r>
                    </a:p>
                  </a:txBody>
                  <a:tcPr/>
                </a:tc>
                <a:tc>
                  <a:txBody>
                    <a:bodyPr/>
                    <a:lstStyle/>
                    <a:p>
                      <a:r>
                        <a:rPr lang="en-US" dirty="0">
                          <a:latin typeface="Times New Roman" panose="02020603050405020304" pitchFamily="18" charset="0"/>
                          <a:cs typeface="Times New Roman" panose="02020603050405020304" pitchFamily="18" charset="0"/>
                        </a:rPr>
                        <a:t>4.000</a:t>
                      </a:r>
                    </a:p>
                  </a:txBody>
                  <a:tcPr/>
                </a:tc>
                <a:tc>
                  <a:txBody>
                    <a:bodyPr/>
                    <a:lstStyle/>
                    <a:p>
                      <a:r>
                        <a:rPr lang="en-US" dirty="0">
                          <a:latin typeface="Times New Roman" panose="02020603050405020304" pitchFamily="18" charset="0"/>
                          <a:cs typeface="Times New Roman" panose="02020603050405020304" pitchFamily="18" charset="0"/>
                        </a:rPr>
                        <a:t>8.000</a:t>
                      </a:r>
                    </a:p>
                  </a:txBody>
                  <a:tcPr/>
                </a:tc>
                <a:tc>
                  <a:txBody>
                    <a:bodyPr/>
                    <a:lstStyle/>
                    <a:p>
                      <a:r>
                        <a:rPr lang="en-US" dirty="0">
                          <a:latin typeface="Times New Roman" panose="02020603050405020304" pitchFamily="18" charset="0"/>
                          <a:cs typeface="Times New Roman" panose="02020603050405020304" pitchFamily="18" charset="0"/>
                        </a:rPr>
                        <a:t>7.955</a:t>
                      </a:r>
                    </a:p>
                  </a:txBody>
                  <a:tcPr/>
                </a:tc>
                <a:tc>
                  <a:txBody>
                    <a:bodyPr/>
                    <a:lstStyle/>
                    <a:p>
                      <a:r>
                        <a:rPr lang="en-US" dirty="0">
                          <a:latin typeface="Times New Roman" panose="02020603050405020304" pitchFamily="18" charset="0"/>
                          <a:cs typeface="Times New Roman" panose="02020603050405020304" pitchFamily="18" charset="0"/>
                        </a:rPr>
                        <a:t>8.000</a:t>
                      </a:r>
                    </a:p>
                  </a:txBody>
                  <a:tcPr/>
                </a:tc>
                <a:tc>
                  <a:txBody>
                    <a:bodyPr/>
                    <a:lstStyle/>
                    <a:p>
                      <a:r>
                        <a:rPr lang="en-US" dirty="0">
                          <a:latin typeface="Times New Roman" panose="02020603050405020304" pitchFamily="18" charset="0"/>
                          <a:cs typeface="Times New Roman" panose="02020603050405020304" pitchFamily="18" charset="0"/>
                        </a:rPr>
                        <a:t>8.000</a:t>
                      </a:r>
                    </a:p>
                  </a:txBody>
                  <a:tcPr/>
                </a:tc>
                <a:tc>
                  <a:txBody>
                    <a:bodyPr/>
                    <a:lstStyle/>
                    <a:p>
                      <a:r>
                        <a:rPr lang="en-US" dirty="0">
                          <a:latin typeface="Times New Roman" panose="02020603050405020304" pitchFamily="18" charset="0"/>
                          <a:cs typeface="Times New Roman" panose="02020603050405020304" pitchFamily="18" charset="0"/>
                        </a:rPr>
                        <a:t>8.000</a:t>
                      </a:r>
                    </a:p>
                  </a:txBody>
                  <a:tcPr/>
                </a:tc>
                <a:extLst>
                  <a:ext uri="{0D108BD9-81ED-4DB2-BD59-A6C34878D82A}">
                    <a16:rowId xmlns:a16="http://schemas.microsoft.com/office/drawing/2014/main" val="115032990"/>
                  </a:ext>
                </a:extLst>
              </a:tr>
              <a:tr h="622105">
                <a:tc>
                  <a:txBody>
                    <a:bodyPr/>
                    <a:lstStyle/>
                    <a:p>
                      <a:r>
                        <a:rPr lang="en-US" dirty="0">
                          <a:latin typeface="Times New Roman" panose="02020603050405020304" pitchFamily="18" charset="0"/>
                          <a:cs typeface="Times New Roman" panose="02020603050405020304" pitchFamily="18" charset="0"/>
                        </a:rPr>
                        <a:t>Processor speed</a:t>
                      </a:r>
                    </a:p>
                  </a:txBody>
                  <a:tcPr/>
                </a:tc>
                <a:tc>
                  <a:txBody>
                    <a:bodyPr/>
                    <a:lstStyle/>
                    <a:p>
                      <a:r>
                        <a:rPr lang="en-US" dirty="0">
                          <a:latin typeface="Times New Roman" panose="02020603050405020304" pitchFamily="18" charset="0"/>
                          <a:cs typeface="Times New Roman" panose="02020603050405020304" pitchFamily="18" charset="0"/>
                        </a:rPr>
                        <a:t>1.600</a:t>
                      </a:r>
                    </a:p>
                  </a:txBody>
                  <a:tcPr/>
                </a:tc>
                <a:tc>
                  <a:txBody>
                    <a:bodyPr/>
                    <a:lstStyle/>
                    <a:p>
                      <a:r>
                        <a:rPr lang="en-US" dirty="0">
                          <a:latin typeface="Times New Roman" panose="02020603050405020304" pitchFamily="18" charset="0"/>
                          <a:cs typeface="Times New Roman" panose="02020603050405020304" pitchFamily="18" charset="0"/>
                        </a:rPr>
                        <a:t>2.000</a:t>
                      </a:r>
                    </a:p>
                  </a:txBody>
                  <a:tcPr/>
                </a:tc>
                <a:tc>
                  <a:txBody>
                    <a:bodyPr/>
                    <a:lstStyle/>
                    <a:p>
                      <a:r>
                        <a:rPr lang="en-US" dirty="0">
                          <a:latin typeface="Times New Roman" panose="02020603050405020304" pitchFamily="18" charset="0"/>
                          <a:cs typeface="Times New Roman" panose="02020603050405020304" pitchFamily="18" charset="0"/>
                        </a:rPr>
                        <a:t> 2.217</a:t>
                      </a:r>
                    </a:p>
                  </a:txBody>
                  <a:tcPr/>
                </a:tc>
                <a:tc>
                  <a:txBody>
                    <a:bodyPr/>
                    <a:lstStyle/>
                    <a:p>
                      <a:r>
                        <a:rPr lang="en-US" dirty="0">
                          <a:latin typeface="Times New Roman" panose="02020603050405020304" pitchFamily="18" charset="0"/>
                          <a:cs typeface="Times New Roman" panose="02020603050405020304" pitchFamily="18" charset="0"/>
                        </a:rPr>
                        <a:t>2.200</a:t>
                      </a:r>
                    </a:p>
                  </a:txBody>
                  <a:tcPr/>
                </a:tc>
                <a:tc>
                  <a:txBody>
                    <a:bodyPr/>
                    <a:lstStyle/>
                    <a:p>
                      <a:r>
                        <a:rPr lang="en-US" dirty="0">
                          <a:latin typeface="Times New Roman" panose="02020603050405020304" pitchFamily="18" charset="0"/>
                          <a:cs typeface="Times New Roman" panose="02020603050405020304" pitchFamily="18" charset="0"/>
                        </a:rPr>
                        <a:t>2.400</a:t>
                      </a:r>
                    </a:p>
                  </a:txBody>
                  <a:tcPr/>
                </a:tc>
                <a:tc>
                  <a:txBody>
                    <a:bodyPr/>
                    <a:lstStyle/>
                    <a:p>
                      <a:r>
                        <a:rPr lang="en-US" dirty="0">
                          <a:latin typeface="Times New Roman" panose="02020603050405020304" pitchFamily="18" charset="0"/>
                          <a:cs typeface="Times New Roman" panose="02020603050405020304" pitchFamily="18" charset="0"/>
                        </a:rPr>
                        <a:t>3.200</a:t>
                      </a:r>
                    </a:p>
                  </a:txBody>
                  <a:tcPr/>
                </a:tc>
                <a:extLst>
                  <a:ext uri="{0D108BD9-81ED-4DB2-BD59-A6C34878D82A}">
                    <a16:rowId xmlns:a16="http://schemas.microsoft.com/office/drawing/2014/main" val="2358589289"/>
                  </a:ext>
                </a:extLst>
              </a:tr>
              <a:tr h="622105">
                <a:tc>
                  <a:txBody>
                    <a:bodyPr/>
                    <a:lstStyle/>
                    <a:p>
                      <a:r>
                        <a:rPr lang="en-US" dirty="0">
                          <a:latin typeface="Times New Roman" panose="02020603050405020304" pitchFamily="18" charset="0"/>
                          <a:cs typeface="Times New Roman" panose="02020603050405020304" pitchFamily="18" charset="0"/>
                        </a:rPr>
                        <a:t>Battery capacity</a:t>
                      </a:r>
                    </a:p>
                  </a:txBody>
                  <a:tcPr/>
                </a:tc>
                <a:tc>
                  <a:txBody>
                    <a:bodyPr/>
                    <a:lstStyle/>
                    <a:p>
                      <a:r>
                        <a:rPr lang="en-US" dirty="0">
                          <a:latin typeface="Times New Roman" panose="02020603050405020304" pitchFamily="18" charset="0"/>
                          <a:cs typeface="Times New Roman" panose="02020603050405020304" pitchFamily="18" charset="0"/>
                        </a:rPr>
                        <a:t>3100</a:t>
                      </a:r>
                    </a:p>
                  </a:txBody>
                  <a:tcPr/>
                </a:tc>
                <a:tc>
                  <a:txBody>
                    <a:bodyPr/>
                    <a:lstStyle/>
                    <a:p>
                      <a:r>
                        <a:rPr lang="en-US" dirty="0">
                          <a:latin typeface="Times New Roman" panose="02020603050405020304" pitchFamily="18" charset="0"/>
                          <a:cs typeface="Times New Roman" panose="02020603050405020304" pitchFamily="18" charset="0"/>
                        </a:rPr>
                        <a:t>5000</a:t>
                      </a:r>
                    </a:p>
                  </a:txBody>
                  <a:tcPr/>
                </a:tc>
                <a:tc>
                  <a:txBody>
                    <a:bodyPr/>
                    <a:lstStyle/>
                    <a:p>
                      <a:r>
                        <a:rPr lang="en-US" dirty="0">
                          <a:latin typeface="Times New Roman" panose="02020603050405020304" pitchFamily="18" charset="0"/>
                          <a:cs typeface="Times New Roman" panose="02020603050405020304" pitchFamily="18" charset="0"/>
                        </a:rPr>
                        <a:t>5069</a:t>
                      </a:r>
                    </a:p>
                  </a:txBody>
                  <a:tcPr/>
                </a:tc>
                <a:tc>
                  <a:txBody>
                    <a:bodyPr/>
                    <a:lstStyle/>
                    <a:p>
                      <a:r>
                        <a:rPr lang="en-US" dirty="0">
                          <a:latin typeface="Times New Roman" panose="02020603050405020304" pitchFamily="18" charset="0"/>
                          <a:cs typeface="Times New Roman" panose="02020603050405020304" pitchFamily="18" charset="0"/>
                        </a:rPr>
                        <a:t>5000</a:t>
                      </a:r>
                    </a:p>
                  </a:txBody>
                  <a:tcPr/>
                </a:tc>
                <a:tc>
                  <a:txBody>
                    <a:bodyPr/>
                    <a:lstStyle/>
                    <a:p>
                      <a:r>
                        <a:rPr lang="en-US" dirty="0">
                          <a:latin typeface="Times New Roman" panose="02020603050405020304" pitchFamily="18" charset="0"/>
                          <a:cs typeface="Times New Roman" panose="02020603050405020304" pitchFamily="18" charset="0"/>
                        </a:rPr>
                        <a:t>5000</a:t>
                      </a:r>
                    </a:p>
                  </a:txBody>
                  <a:tcPr/>
                </a:tc>
                <a:tc>
                  <a:txBody>
                    <a:bodyPr/>
                    <a:lstStyle/>
                    <a:p>
                      <a:r>
                        <a:rPr lang="en-US" dirty="0">
                          <a:latin typeface="Times New Roman" panose="02020603050405020304" pitchFamily="18" charset="0"/>
                          <a:cs typeface="Times New Roman" panose="02020603050405020304" pitchFamily="18" charset="0"/>
                        </a:rPr>
                        <a:t>22000</a:t>
                      </a:r>
                    </a:p>
                  </a:txBody>
                  <a:tcPr/>
                </a:tc>
                <a:extLst>
                  <a:ext uri="{0D108BD9-81ED-4DB2-BD59-A6C34878D82A}">
                    <a16:rowId xmlns:a16="http://schemas.microsoft.com/office/drawing/2014/main" val="695408417"/>
                  </a:ext>
                </a:extLst>
              </a:tr>
              <a:tr h="408352">
                <a:tc>
                  <a:txBody>
                    <a:bodyPr/>
                    <a:lstStyle/>
                    <a:p>
                      <a:r>
                        <a:rPr lang="en-US" dirty="0">
                          <a:latin typeface="Times New Roman" panose="02020603050405020304" pitchFamily="18" charset="0"/>
                          <a:cs typeface="Times New Roman" panose="02020603050405020304" pitchFamily="18" charset="0"/>
                        </a:rPr>
                        <a:t>ram</a:t>
                      </a:r>
                    </a:p>
                  </a:txBody>
                  <a:tcPr/>
                </a:tc>
                <a:tc>
                  <a:txBody>
                    <a:bodyPr/>
                    <a:lstStyle/>
                    <a:p>
                      <a:r>
                        <a:rPr lang="en-US" dirty="0">
                          <a:latin typeface="Times New Roman" panose="02020603050405020304" pitchFamily="18" charset="0"/>
                          <a:cs typeface="Times New Roman" panose="02020603050405020304" pitchFamily="18" charset="0"/>
                        </a:rPr>
                        <a:t>2.000</a:t>
                      </a:r>
                    </a:p>
                  </a:txBody>
                  <a:tcPr/>
                </a:tc>
                <a:tc>
                  <a:txBody>
                    <a:bodyPr/>
                    <a:lstStyle/>
                    <a:p>
                      <a:r>
                        <a:rPr lang="en-US" dirty="0">
                          <a:latin typeface="Times New Roman" panose="02020603050405020304" pitchFamily="18" charset="0"/>
                          <a:cs typeface="Times New Roman" panose="02020603050405020304" pitchFamily="18" charset="0"/>
                        </a:rPr>
                        <a:t>4.000</a:t>
                      </a:r>
                    </a:p>
                  </a:txBody>
                  <a:tcPr/>
                </a:tc>
                <a:tc>
                  <a:txBody>
                    <a:bodyPr/>
                    <a:lstStyle/>
                    <a:p>
                      <a:r>
                        <a:rPr lang="en-US" dirty="0">
                          <a:latin typeface="Times New Roman" panose="02020603050405020304" pitchFamily="18" charset="0"/>
                          <a:cs typeface="Times New Roman" panose="02020603050405020304" pitchFamily="18" charset="0"/>
                        </a:rPr>
                        <a:t>5.926</a:t>
                      </a:r>
                    </a:p>
                  </a:txBody>
                  <a:tcPr/>
                </a:tc>
                <a:tc>
                  <a:txBody>
                    <a:bodyPr/>
                    <a:lstStyle/>
                    <a:p>
                      <a:r>
                        <a:rPr lang="en-US" dirty="0">
                          <a:latin typeface="Times New Roman" panose="02020603050405020304" pitchFamily="18" charset="0"/>
                          <a:cs typeface="Times New Roman" panose="02020603050405020304" pitchFamily="18" charset="0"/>
                        </a:rPr>
                        <a:t>6.000</a:t>
                      </a:r>
                    </a:p>
                  </a:txBody>
                  <a:tcPr/>
                </a:tc>
                <a:tc>
                  <a:txBody>
                    <a:bodyPr/>
                    <a:lstStyle/>
                    <a:p>
                      <a:r>
                        <a:rPr lang="en-US" dirty="0">
                          <a:latin typeface="Times New Roman" panose="02020603050405020304" pitchFamily="18" charset="0"/>
                          <a:cs typeface="Times New Roman" panose="02020603050405020304" pitchFamily="18" charset="0"/>
                        </a:rPr>
                        <a:t>8.000</a:t>
                      </a:r>
                    </a:p>
                  </a:txBody>
                  <a:tcPr/>
                </a:tc>
                <a:tc>
                  <a:txBody>
                    <a:bodyPr/>
                    <a:lstStyle/>
                    <a:p>
                      <a:r>
                        <a:rPr lang="en-US" dirty="0">
                          <a:latin typeface="Times New Roman" panose="02020603050405020304" pitchFamily="18" charset="0"/>
                          <a:cs typeface="Times New Roman" panose="02020603050405020304" pitchFamily="18" charset="0"/>
                        </a:rPr>
                        <a:t>12.000</a:t>
                      </a:r>
                    </a:p>
                  </a:txBody>
                  <a:tcPr/>
                </a:tc>
                <a:extLst>
                  <a:ext uri="{0D108BD9-81ED-4DB2-BD59-A6C34878D82A}">
                    <a16:rowId xmlns:a16="http://schemas.microsoft.com/office/drawing/2014/main" val="190825839"/>
                  </a:ext>
                </a:extLst>
              </a:tr>
              <a:tr h="408352">
                <a:tc>
                  <a:txBody>
                    <a:bodyPr/>
                    <a:lstStyle/>
                    <a:p>
                      <a:r>
                        <a:rPr lang="en-US" dirty="0">
                          <a:latin typeface="Times New Roman" panose="02020603050405020304" pitchFamily="18" charset="0"/>
                          <a:cs typeface="Times New Roman" panose="02020603050405020304" pitchFamily="18" charset="0"/>
                        </a:rPr>
                        <a:t>Screen  size</a:t>
                      </a:r>
                    </a:p>
                  </a:txBody>
                  <a:tcPr/>
                </a:tc>
                <a:tc>
                  <a:txBody>
                    <a:bodyPr/>
                    <a:lstStyle/>
                    <a:p>
                      <a:r>
                        <a:rPr lang="en-US" dirty="0">
                          <a:latin typeface="Times New Roman" panose="02020603050405020304" pitchFamily="18" charset="0"/>
                          <a:cs typeface="Times New Roman" panose="02020603050405020304" pitchFamily="18" charset="0"/>
                        </a:rPr>
                        <a:t>5.900</a:t>
                      </a:r>
                    </a:p>
                  </a:txBody>
                  <a:tcPr/>
                </a:tc>
                <a:tc>
                  <a:txBody>
                    <a:bodyPr/>
                    <a:lstStyle/>
                    <a:p>
                      <a:r>
                        <a:rPr lang="en-US" dirty="0">
                          <a:latin typeface="Times New Roman" panose="02020603050405020304" pitchFamily="18" charset="0"/>
                          <a:cs typeface="Times New Roman" panose="02020603050405020304" pitchFamily="18" charset="0"/>
                        </a:rPr>
                        <a:t>6.500</a:t>
                      </a:r>
                    </a:p>
                  </a:txBody>
                  <a:tcPr/>
                </a:tc>
                <a:tc>
                  <a:txBody>
                    <a:bodyPr/>
                    <a:lstStyle/>
                    <a:p>
                      <a:r>
                        <a:rPr lang="en-US" dirty="0">
                          <a:latin typeface="Times New Roman" panose="02020603050405020304" pitchFamily="18" charset="0"/>
                          <a:cs typeface="Times New Roman" panose="02020603050405020304" pitchFamily="18" charset="0"/>
                        </a:rPr>
                        <a:t>6.560</a:t>
                      </a:r>
                    </a:p>
                  </a:txBody>
                  <a:tcPr/>
                </a:tc>
                <a:tc>
                  <a:txBody>
                    <a:bodyPr/>
                    <a:lstStyle/>
                    <a:p>
                      <a:r>
                        <a:rPr lang="en-US" dirty="0">
                          <a:latin typeface="Times New Roman" panose="02020603050405020304" pitchFamily="18" charset="0"/>
                          <a:cs typeface="Times New Roman" panose="02020603050405020304" pitchFamily="18" charset="0"/>
                        </a:rPr>
                        <a:t>6.680</a:t>
                      </a:r>
                    </a:p>
                  </a:txBody>
                  <a:tcPr/>
                </a:tc>
                <a:tc>
                  <a:txBody>
                    <a:bodyPr/>
                    <a:lstStyle/>
                    <a:p>
                      <a:r>
                        <a:rPr lang="en-US" dirty="0">
                          <a:latin typeface="Times New Roman" panose="02020603050405020304" pitchFamily="18" charset="0"/>
                          <a:cs typeface="Times New Roman" panose="02020603050405020304" pitchFamily="18" charset="0"/>
                        </a:rPr>
                        <a:t>6.662</a:t>
                      </a:r>
                    </a:p>
                  </a:txBody>
                  <a:tcPr/>
                </a:tc>
                <a:tc>
                  <a:txBody>
                    <a:bodyPr/>
                    <a:lstStyle/>
                    <a:p>
                      <a:r>
                        <a:rPr lang="en-US" dirty="0">
                          <a:latin typeface="Times New Roman" panose="02020603050405020304" pitchFamily="18" charset="0"/>
                          <a:cs typeface="Times New Roman" panose="02020603050405020304" pitchFamily="18" charset="0"/>
                        </a:rPr>
                        <a:t>6.950</a:t>
                      </a:r>
                    </a:p>
                  </a:txBody>
                  <a:tcPr/>
                </a:tc>
                <a:extLst>
                  <a:ext uri="{0D108BD9-81ED-4DB2-BD59-A6C34878D82A}">
                    <a16:rowId xmlns:a16="http://schemas.microsoft.com/office/drawing/2014/main" val="352535457"/>
                  </a:ext>
                </a:extLst>
              </a:tr>
              <a:tr h="408352">
                <a:tc>
                  <a:txBody>
                    <a:bodyPr/>
                    <a:lstStyle/>
                    <a:p>
                      <a:r>
                        <a:rPr lang="en-US" dirty="0">
                          <a:latin typeface="Times New Roman" panose="02020603050405020304" pitchFamily="18" charset="0"/>
                          <a:cs typeface="Times New Roman" panose="02020603050405020304" pitchFamily="18" charset="0"/>
                        </a:rPr>
                        <a:t>Rear camera</a:t>
                      </a:r>
                    </a:p>
                  </a:txBody>
                  <a:tcPr/>
                </a:tc>
                <a:tc>
                  <a:txBody>
                    <a:bodyPr/>
                    <a:lstStyle/>
                    <a:p>
                      <a:r>
                        <a:rPr lang="en-US" dirty="0">
                          <a:latin typeface="Times New Roman" panose="02020603050405020304" pitchFamily="18" charset="0"/>
                          <a:cs typeface="Times New Roman" panose="02020603050405020304" pitchFamily="18" charset="0"/>
                        </a:rPr>
                        <a:t>8.00</a:t>
                      </a:r>
                    </a:p>
                  </a:txBody>
                  <a:tcPr/>
                </a:tc>
                <a:tc>
                  <a:txBody>
                    <a:bodyPr/>
                    <a:lstStyle/>
                    <a:p>
                      <a:r>
                        <a:rPr lang="en-US" dirty="0">
                          <a:latin typeface="Times New Roman" panose="02020603050405020304" pitchFamily="18" charset="0"/>
                          <a:cs typeface="Times New Roman" panose="02020603050405020304" pitchFamily="18" charset="0"/>
                        </a:rPr>
                        <a:t>48.00</a:t>
                      </a:r>
                    </a:p>
                  </a:txBody>
                  <a:tcPr/>
                </a:tc>
                <a:tc>
                  <a:txBody>
                    <a:bodyPr/>
                    <a:lstStyle/>
                    <a:p>
                      <a:r>
                        <a:rPr lang="en-US" dirty="0">
                          <a:latin typeface="Times New Roman" panose="02020603050405020304" pitchFamily="18" charset="0"/>
                          <a:cs typeface="Times New Roman" panose="02020603050405020304" pitchFamily="18" charset="0"/>
                        </a:rPr>
                        <a:t>55.19</a:t>
                      </a:r>
                    </a:p>
                  </a:txBody>
                  <a:tcPr/>
                </a:tc>
                <a:tc>
                  <a:txBody>
                    <a:bodyPr/>
                    <a:lstStyle/>
                    <a:p>
                      <a:r>
                        <a:rPr lang="en-US" dirty="0">
                          <a:latin typeface="Times New Roman" panose="02020603050405020304" pitchFamily="18" charset="0"/>
                          <a:cs typeface="Times New Roman" panose="02020603050405020304" pitchFamily="18" charset="0"/>
                        </a:rPr>
                        <a:t>50.00</a:t>
                      </a:r>
                    </a:p>
                  </a:txBody>
                  <a:tcPr/>
                </a:tc>
                <a:tc>
                  <a:txBody>
                    <a:bodyPr/>
                    <a:lstStyle/>
                    <a:p>
                      <a:r>
                        <a:rPr lang="en-US" dirty="0">
                          <a:latin typeface="Times New Roman" panose="02020603050405020304" pitchFamily="18" charset="0"/>
                          <a:cs typeface="Times New Roman" panose="02020603050405020304" pitchFamily="18" charset="0"/>
                        </a:rPr>
                        <a:t>64.00</a:t>
                      </a:r>
                    </a:p>
                  </a:txBody>
                  <a:tcPr/>
                </a:tc>
                <a:tc>
                  <a:txBody>
                    <a:bodyPr/>
                    <a:lstStyle/>
                    <a:p>
                      <a:r>
                        <a:rPr lang="en-US" dirty="0">
                          <a:latin typeface="Times New Roman" panose="02020603050405020304" pitchFamily="18" charset="0"/>
                          <a:cs typeface="Times New Roman" panose="02020603050405020304" pitchFamily="18" charset="0"/>
                        </a:rPr>
                        <a:t>200.00</a:t>
                      </a:r>
                    </a:p>
                  </a:txBody>
                  <a:tcPr/>
                </a:tc>
                <a:extLst>
                  <a:ext uri="{0D108BD9-81ED-4DB2-BD59-A6C34878D82A}">
                    <a16:rowId xmlns:a16="http://schemas.microsoft.com/office/drawing/2014/main" val="2499276993"/>
                  </a:ext>
                </a:extLst>
              </a:tr>
              <a:tr h="408352">
                <a:tc>
                  <a:txBody>
                    <a:bodyPr/>
                    <a:lstStyle/>
                    <a:p>
                      <a:r>
                        <a:rPr lang="en-US" dirty="0">
                          <a:latin typeface="Times New Roman" panose="02020603050405020304" pitchFamily="18" charset="0"/>
                          <a:cs typeface="Times New Roman" panose="02020603050405020304" pitchFamily="18" charset="0"/>
                        </a:rPr>
                        <a:t>Front camera</a:t>
                      </a:r>
                    </a:p>
                  </a:txBody>
                  <a:tcPr/>
                </a:tc>
                <a:tc>
                  <a:txBody>
                    <a:bodyPr/>
                    <a:lstStyle/>
                    <a:p>
                      <a:r>
                        <a:rPr lang="en-US" dirty="0">
                          <a:latin typeface="Times New Roman" panose="02020603050405020304" pitchFamily="18" charset="0"/>
                          <a:cs typeface="Times New Roman" panose="02020603050405020304" pitchFamily="18" charset="0"/>
                        </a:rPr>
                        <a:t>5.00</a:t>
                      </a:r>
                    </a:p>
                  </a:txBody>
                  <a:tcPr/>
                </a:tc>
                <a:tc>
                  <a:txBody>
                    <a:bodyPr/>
                    <a:lstStyle/>
                    <a:p>
                      <a:r>
                        <a:rPr lang="en-US" dirty="0">
                          <a:latin typeface="Times New Roman" panose="02020603050405020304" pitchFamily="18" charset="0"/>
                          <a:cs typeface="Times New Roman" panose="02020603050405020304" pitchFamily="18" charset="0"/>
                        </a:rPr>
                        <a:t>8.00</a:t>
                      </a:r>
                    </a:p>
                  </a:txBody>
                  <a:tcPr/>
                </a:tc>
                <a:tc>
                  <a:txBody>
                    <a:bodyPr/>
                    <a:lstStyle/>
                    <a:p>
                      <a:r>
                        <a:rPr lang="en-US" dirty="0">
                          <a:latin typeface="Times New Roman" panose="02020603050405020304" pitchFamily="18" charset="0"/>
                          <a:cs typeface="Times New Roman" panose="02020603050405020304" pitchFamily="18" charset="0"/>
                        </a:rPr>
                        <a:t>14.96</a:t>
                      </a:r>
                    </a:p>
                  </a:txBody>
                  <a:tcPr/>
                </a:tc>
                <a:tc>
                  <a:txBody>
                    <a:bodyPr/>
                    <a:lstStyle/>
                    <a:p>
                      <a:r>
                        <a:rPr lang="en-US" dirty="0">
                          <a:latin typeface="Times New Roman" panose="02020603050405020304" pitchFamily="18" charset="0"/>
                          <a:cs typeface="Times New Roman" panose="02020603050405020304" pitchFamily="18" charset="0"/>
                        </a:rPr>
                        <a:t>16.00</a:t>
                      </a:r>
                    </a:p>
                  </a:txBody>
                  <a:tcPr/>
                </a:tc>
                <a:tc>
                  <a:txBody>
                    <a:bodyPr/>
                    <a:lstStyle/>
                    <a:p>
                      <a:r>
                        <a:rPr lang="en-US" dirty="0">
                          <a:latin typeface="Times New Roman" panose="02020603050405020304" pitchFamily="18" charset="0"/>
                          <a:cs typeface="Times New Roman" panose="02020603050405020304" pitchFamily="18" charset="0"/>
                        </a:rPr>
                        <a:t>16.00</a:t>
                      </a:r>
                    </a:p>
                  </a:txBody>
                  <a:tcPr/>
                </a:tc>
                <a:tc>
                  <a:txBody>
                    <a:bodyPr/>
                    <a:lstStyle/>
                    <a:p>
                      <a:r>
                        <a:rPr lang="en-US" dirty="0">
                          <a:latin typeface="Times New Roman" panose="02020603050405020304" pitchFamily="18" charset="0"/>
                          <a:cs typeface="Times New Roman" panose="02020603050405020304" pitchFamily="18" charset="0"/>
                        </a:rPr>
                        <a:t>60.00</a:t>
                      </a:r>
                    </a:p>
                  </a:txBody>
                  <a:tcPr/>
                </a:tc>
                <a:extLst>
                  <a:ext uri="{0D108BD9-81ED-4DB2-BD59-A6C34878D82A}">
                    <a16:rowId xmlns:a16="http://schemas.microsoft.com/office/drawing/2014/main" val="515053486"/>
                  </a:ext>
                </a:extLst>
              </a:tr>
              <a:tr h="408352">
                <a:tc>
                  <a:txBody>
                    <a:bodyPr/>
                    <a:lstStyle/>
                    <a:p>
                      <a:r>
                        <a:rPr lang="en-US" dirty="0">
                          <a:latin typeface="Times New Roman" panose="02020603050405020304" pitchFamily="18" charset="0"/>
                          <a:cs typeface="Times New Roman" panose="02020603050405020304" pitchFamily="18" charset="0"/>
                        </a:rPr>
                        <a:t>Refresh rate</a:t>
                      </a:r>
                    </a:p>
                  </a:txBody>
                  <a:tcPr/>
                </a:tc>
                <a:tc>
                  <a:txBody>
                    <a:bodyPr/>
                    <a:lstStyle/>
                    <a:p>
                      <a:r>
                        <a:rPr lang="en-US" dirty="0">
                          <a:latin typeface="Times New Roman" panose="02020603050405020304" pitchFamily="18" charset="0"/>
                          <a:cs typeface="Times New Roman" panose="02020603050405020304" pitchFamily="18" charset="0"/>
                        </a:rPr>
                        <a:t>60.0</a:t>
                      </a:r>
                    </a:p>
                  </a:txBody>
                  <a:tcPr/>
                </a:tc>
                <a:tc>
                  <a:txBody>
                    <a:bodyPr/>
                    <a:lstStyle/>
                    <a:p>
                      <a:r>
                        <a:rPr lang="en-US" dirty="0">
                          <a:latin typeface="Times New Roman" panose="02020603050405020304" pitchFamily="18" charset="0"/>
                          <a:cs typeface="Times New Roman" panose="02020603050405020304" pitchFamily="18" charset="0"/>
                        </a:rPr>
                        <a:t>60.0</a:t>
                      </a:r>
                    </a:p>
                  </a:txBody>
                  <a:tcPr/>
                </a:tc>
                <a:tc>
                  <a:txBody>
                    <a:bodyPr/>
                    <a:lstStyle/>
                    <a:p>
                      <a:r>
                        <a:rPr lang="en-US" dirty="0">
                          <a:latin typeface="Times New Roman" panose="02020603050405020304" pitchFamily="18" charset="0"/>
                          <a:cs typeface="Times New Roman" panose="02020603050405020304" pitchFamily="18" charset="0"/>
                        </a:rPr>
                        <a:t>88.4</a:t>
                      </a:r>
                    </a:p>
                  </a:txBody>
                  <a:tcPr/>
                </a:tc>
                <a:tc>
                  <a:txBody>
                    <a:bodyPr/>
                    <a:lstStyle/>
                    <a:p>
                      <a:r>
                        <a:rPr lang="en-US" dirty="0">
                          <a:latin typeface="Times New Roman" panose="02020603050405020304" pitchFamily="18" charset="0"/>
                          <a:cs typeface="Times New Roman" panose="02020603050405020304" pitchFamily="18" charset="0"/>
                        </a:rPr>
                        <a:t>90.0</a:t>
                      </a:r>
                    </a:p>
                  </a:txBody>
                  <a:tcPr/>
                </a:tc>
                <a:tc>
                  <a:txBody>
                    <a:bodyPr/>
                    <a:lstStyle/>
                    <a:p>
                      <a:r>
                        <a:rPr lang="en-US" dirty="0">
                          <a:latin typeface="Times New Roman" panose="02020603050405020304" pitchFamily="18" charset="0"/>
                          <a:cs typeface="Times New Roman" panose="02020603050405020304" pitchFamily="18" charset="0"/>
                        </a:rPr>
                        <a:t>120.0</a:t>
                      </a:r>
                    </a:p>
                  </a:txBody>
                  <a:tcPr/>
                </a:tc>
                <a:tc>
                  <a:txBody>
                    <a:bodyPr/>
                    <a:lstStyle/>
                    <a:p>
                      <a:r>
                        <a:rPr lang="en-US" dirty="0">
                          <a:latin typeface="Times New Roman" panose="02020603050405020304" pitchFamily="18" charset="0"/>
                          <a:cs typeface="Times New Roman" panose="02020603050405020304" pitchFamily="18" charset="0"/>
                        </a:rPr>
                        <a:t>144.0</a:t>
                      </a:r>
                    </a:p>
                  </a:txBody>
                  <a:tcPr/>
                </a:tc>
                <a:extLst>
                  <a:ext uri="{0D108BD9-81ED-4DB2-BD59-A6C34878D82A}">
                    <a16:rowId xmlns:a16="http://schemas.microsoft.com/office/drawing/2014/main" val="2654199627"/>
                  </a:ext>
                </a:extLst>
              </a:tr>
              <a:tr h="622105">
                <a:tc>
                  <a:txBody>
                    <a:bodyPr/>
                    <a:lstStyle/>
                    <a:p>
                      <a:r>
                        <a:rPr lang="en-US" dirty="0">
                          <a:latin typeface="Times New Roman" panose="02020603050405020304" pitchFamily="18" charset="0"/>
                          <a:cs typeface="Times New Roman" panose="02020603050405020304" pitchFamily="18" charset="0"/>
                        </a:rPr>
                        <a:t>Extended </a:t>
                      </a:r>
                      <a:r>
                        <a:rPr lang="en-US" dirty="0" err="1">
                          <a:latin typeface="Times New Roman" panose="02020603050405020304" pitchFamily="18" charset="0"/>
                          <a:cs typeface="Times New Roman" panose="02020603050405020304" pitchFamily="18" charset="0"/>
                        </a:rPr>
                        <a:t>upto</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128.0</a:t>
                      </a:r>
                    </a:p>
                  </a:txBody>
                  <a:tcPr/>
                </a:tc>
                <a:tc>
                  <a:txBody>
                    <a:bodyPr/>
                    <a:lstStyle/>
                    <a:p>
                      <a:r>
                        <a:rPr lang="en-US" dirty="0">
                          <a:latin typeface="Times New Roman" panose="02020603050405020304" pitchFamily="18" charset="0"/>
                          <a:cs typeface="Times New Roman" panose="02020603050405020304" pitchFamily="18" charset="0"/>
                        </a:rPr>
                        <a:t>512.0</a:t>
                      </a:r>
                    </a:p>
                  </a:txBody>
                  <a:tcPr/>
                </a:tc>
                <a:tc>
                  <a:txBody>
                    <a:bodyPr/>
                    <a:lstStyle/>
                    <a:p>
                      <a:r>
                        <a:rPr lang="en-US" dirty="0">
                          <a:latin typeface="Times New Roman" panose="02020603050405020304" pitchFamily="18" charset="0"/>
                          <a:cs typeface="Times New Roman" panose="02020603050405020304" pitchFamily="18" charset="0"/>
                        </a:rPr>
                        <a:t>797.5</a:t>
                      </a:r>
                    </a:p>
                  </a:txBody>
                  <a:tcPr/>
                </a:tc>
                <a:tc>
                  <a:txBody>
                    <a:bodyPr/>
                    <a:lstStyle/>
                    <a:p>
                      <a:r>
                        <a:rPr lang="en-US" dirty="0">
                          <a:latin typeface="Times New Roman" panose="02020603050405020304" pitchFamily="18" charset="0"/>
                          <a:cs typeface="Times New Roman" panose="02020603050405020304" pitchFamily="18" charset="0"/>
                        </a:rPr>
                        <a:t>1024.0</a:t>
                      </a:r>
                    </a:p>
                  </a:txBody>
                  <a:tcPr/>
                </a:tc>
                <a:tc>
                  <a:txBody>
                    <a:bodyPr/>
                    <a:lstStyle/>
                    <a:p>
                      <a:r>
                        <a:rPr lang="en-US" dirty="0">
                          <a:latin typeface="Times New Roman" panose="02020603050405020304" pitchFamily="18" charset="0"/>
                          <a:cs typeface="Times New Roman" panose="02020603050405020304" pitchFamily="18" charset="0"/>
                        </a:rPr>
                        <a:t>1024.0</a:t>
                      </a:r>
                    </a:p>
                  </a:txBody>
                  <a:tcPr/>
                </a:tc>
                <a:tc>
                  <a:txBody>
                    <a:bodyPr/>
                    <a:lstStyle/>
                    <a:p>
                      <a:r>
                        <a:rPr lang="en-US" dirty="0">
                          <a:latin typeface="Times New Roman" panose="02020603050405020304" pitchFamily="18" charset="0"/>
                          <a:cs typeface="Times New Roman" panose="02020603050405020304" pitchFamily="18" charset="0"/>
                        </a:rPr>
                        <a:t>2048.0</a:t>
                      </a:r>
                    </a:p>
                  </a:txBody>
                  <a:tcPr/>
                </a:tc>
                <a:extLst>
                  <a:ext uri="{0D108BD9-81ED-4DB2-BD59-A6C34878D82A}">
                    <a16:rowId xmlns:a16="http://schemas.microsoft.com/office/drawing/2014/main" val="1064371334"/>
                  </a:ext>
                </a:extLst>
              </a:tr>
            </a:tbl>
          </a:graphicData>
        </a:graphic>
      </p:graphicFrame>
    </p:spTree>
    <p:extLst>
      <p:ext uri="{BB962C8B-B14F-4D97-AF65-F5344CB8AC3E}">
        <p14:creationId xmlns:p14="http://schemas.microsoft.com/office/powerpoint/2010/main" val="2628074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233970-098E-298B-F08D-69DBD26DAE5C}"/>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5D65313-11D9-8A2B-42B0-22DE66C620CF}"/>
              </a:ext>
            </a:extLst>
          </p:cNvPr>
          <p:cNvSpPr>
            <a:spLocks noGrp="1"/>
          </p:cNvSpPr>
          <p:nvPr>
            <p:ph type="title"/>
          </p:nvPr>
        </p:nvSpPr>
        <p:spPr>
          <a:xfrm>
            <a:off x="583164" y="254323"/>
            <a:ext cx="4544762" cy="1401183"/>
          </a:xfrm>
        </p:spPr>
        <p:txBody>
          <a:bodyPr anchor="t">
            <a:normAutofit/>
          </a:bodyPr>
          <a:lstStyle/>
          <a:p>
            <a:r>
              <a:rPr lang="en-US" dirty="0">
                <a:latin typeface="Times New Roman" panose="02020603050405020304" pitchFamily="18" charset="0"/>
                <a:cs typeface="Times New Roman" panose="02020603050405020304" pitchFamily="18" charset="0"/>
              </a:rPr>
              <a:t>SKEWNESS AND KURTOSIS</a:t>
            </a:r>
          </a:p>
        </p:txBody>
      </p:sp>
      <p:cxnSp>
        <p:nvCxnSpPr>
          <p:cNvPr id="43" name="Straight Connector 42">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7981B0DF-3C39-B412-DE8F-99F7D660BFA7}"/>
              </a:ext>
            </a:extLst>
          </p:cNvPr>
          <p:cNvSpPr>
            <a:spLocks noGrp="1"/>
          </p:cNvSpPr>
          <p:nvPr>
            <p:ph idx="1"/>
          </p:nvPr>
        </p:nvSpPr>
        <p:spPr>
          <a:xfrm>
            <a:off x="583163" y="1636580"/>
            <a:ext cx="11025673" cy="4627584"/>
          </a:xfrm>
        </p:spPr>
        <p:txBody>
          <a:bodyPr>
            <a:noAutofit/>
          </a:bodyPr>
          <a:lstStyle/>
          <a:p>
            <a:r>
              <a:rPr lang="en-US" sz="2000" b="1" dirty="0">
                <a:latin typeface="Times New Roman" panose="02020603050405020304" pitchFamily="18" charset="0"/>
                <a:cs typeface="Times New Roman" panose="02020603050405020304" pitchFamily="18" charset="0"/>
              </a:rPr>
              <a:t>Num of cores: </a:t>
            </a:r>
          </a:p>
          <a:p>
            <a:pPr marL="0" indent="0">
              <a:buNone/>
            </a:pPr>
            <a:r>
              <a:rPr lang="en-US" sz="2000" dirty="0">
                <a:latin typeface="Times New Roman" panose="02020603050405020304" pitchFamily="18" charset="0"/>
                <a:cs typeface="Times New Roman" panose="02020603050405020304" pitchFamily="18" charset="0"/>
              </a:rPr>
              <a:t>Skewness: -9.220168, indicates highly left-skewed distribution. </a:t>
            </a:r>
          </a:p>
          <a:p>
            <a:pPr marL="0" indent="0">
              <a:buNone/>
            </a:pPr>
            <a:r>
              <a:rPr lang="en-US" sz="2000" dirty="0">
                <a:latin typeface="Times New Roman" panose="02020603050405020304" pitchFamily="18" charset="0"/>
                <a:cs typeface="Times New Roman" panose="02020603050405020304" pitchFamily="18" charset="0"/>
              </a:rPr>
              <a:t>Kurtosis: 86.01149, suggesting leptokurtic distribution</a:t>
            </a:r>
          </a:p>
          <a:p>
            <a:pPr algn="just"/>
            <a:r>
              <a:rPr lang="en-US" sz="2000" b="1" dirty="0">
                <a:latin typeface="Times New Roman" panose="02020603050405020304" pitchFamily="18" charset="0"/>
                <a:cs typeface="Times New Roman" panose="02020603050405020304" pitchFamily="18" charset="0"/>
              </a:rPr>
              <a:t>Rating</a:t>
            </a:r>
          </a:p>
          <a:p>
            <a:pPr marL="0" indent="0" algn="just">
              <a:buNone/>
            </a:pPr>
            <a:r>
              <a:rPr lang="en-US" sz="2000" dirty="0">
                <a:latin typeface="Times New Roman" panose="02020603050405020304" pitchFamily="18" charset="0"/>
                <a:cs typeface="Times New Roman" panose="02020603050405020304" pitchFamily="18" charset="0"/>
              </a:rPr>
              <a:t>Skewness: -0.7124205, indicates slightly  left-skewed distribution</a:t>
            </a:r>
          </a:p>
          <a:p>
            <a:pPr marL="0" indent="0" algn="just">
              <a:buNone/>
            </a:pPr>
            <a:r>
              <a:rPr lang="en-US" sz="2000" dirty="0">
                <a:latin typeface="Times New Roman" panose="02020603050405020304" pitchFamily="18" charset="0"/>
                <a:cs typeface="Times New Roman" panose="02020603050405020304" pitchFamily="18" charset="0"/>
              </a:rPr>
              <a:t>Kurtosis: 3.503016, suggesting leptokurtic distribution</a:t>
            </a:r>
          </a:p>
          <a:p>
            <a:pPr algn="just"/>
            <a:r>
              <a:rPr lang="en-US" sz="2000" b="1" dirty="0">
                <a:latin typeface="Times New Roman" panose="02020603050405020304" pitchFamily="18" charset="0"/>
                <a:cs typeface="Times New Roman" panose="02020603050405020304" pitchFamily="18" charset="0"/>
              </a:rPr>
              <a:t>Price</a:t>
            </a:r>
          </a:p>
          <a:p>
            <a:pPr marL="0" indent="0" algn="just">
              <a:buNone/>
            </a:pPr>
            <a:r>
              <a:rPr lang="en-US" sz="2000" dirty="0">
                <a:latin typeface="Times New Roman" panose="02020603050405020304" pitchFamily="18" charset="0"/>
                <a:cs typeface="Times New Roman" panose="02020603050405020304" pitchFamily="18" charset="0"/>
              </a:rPr>
              <a:t>Skewness: 10.29812, Indicates </a:t>
            </a:r>
            <a:r>
              <a:rPr lang="en-US" sz="2000">
                <a:latin typeface="Times New Roman" panose="02020603050405020304" pitchFamily="18" charset="0"/>
                <a:cs typeface="Times New Roman" panose="02020603050405020304" pitchFamily="18" charset="0"/>
              </a:rPr>
              <a:t>highly Right </a:t>
            </a:r>
            <a:r>
              <a:rPr lang="en-US" sz="2000" dirty="0">
                <a:latin typeface="Times New Roman" panose="02020603050405020304" pitchFamily="18" charset="0"/>
                <a:cs typeface="Times New Roman" panose="02020603050405020304" pitchFamily="18" charset="0"/>
              </a:rPr>
              <a:t>skewed distribution</a:t>
            </a:r>
          </a:p>
          <a:p>
            <a:pPr marL="0" indent="0" algn="just">
              <a:buNone/>
            </a:pPr>
            <a:r>
              <a:rPr lang="en-US" sz="2000" dirty="0">
                <a:latin typeface="Times New Roman" panose="02020603050405020304" pitchFamily="18" charset="0"/>
                <a:cs typeface="Times New Roman" panose="02020603050405020304" pitchFamily="18" charset="0"/>
              </a:rPr>
              <a:t>Kurtosis: 146.351, suggesting highly leptokurtic distribution</a:t>
            </a:r>
          </a:p>
          <a:p>
            <a:pPr algn="just"/>
            <a:r>
              <a:rPr lang="en-US" sz="2000" b="1" dirty="0">
                <a:latin typeface="Times New Roman" panose="02020603050405020304" pitchFamily="18" charset="0"/>
                <a:cs typeface="Times New Roman" panose="02020603050405020304" pitchFamily="18" charset="0"/>
              </a:rPr>
              <a:t>Battery capacity</a:t>
            </a:r>
          </a:p>
          <a:p>
            <a:pPr marL="0" indent="0" algn="just">
              <a:buNone/>
            </a:pPr>
            <a:r>
              <a:rPr lang="en-US" sz="2000" dirty="0">
                <a:latin typeface="Times New Roman" panose="02020603050405020304" pitchFamily="18" charset="0"/>
                <a:cs typeface="Times New Roman" panose="02020603050405020304" pitchFamily="18" charset="0"/>
              </a:rPr>
              <a:t>Skewness: 12.94512, indicates highly right skewed</a:t>
            </a:r>
          </a:p>
          <a:p>
            <a:pPr marL="0" indent="0" algn="just">
              <a:buNone/>
            </a:pPr>
            <a:r>
              <a:rPr lang="en-US" sz="2000" dirty="0">
                <a:latin typeface="Times New Roman" panose="02020603050405020304" pitchFamily="18" charset="0"/>
                <a:cs typeface="Times New Roman" panose="02020603050405020304" pitchFamily="18" charset="0"/>
              </a:rPr>
              <a:t>Kurtosis: 213.4553, it is leptokurtic distribution</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pic>
        <p:nvPicPr>
          <p:cNvPr id="6" name="Picture 5" descr="What is Skewness? | aiSource">
            <a:extLst>
              <a:ext uri="{FF2B5EF4-FFF2-40B4-BE49-F238E27FC236}">
                <a16:creationId xmlns:a16="http://schemas.microsoft.com/office/drawing/2014/main" id="{C765E127-CE1A-7966-E7BF-7FDD5B2355C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15200" y="954914"/>
            <a:ext cx="4762719" cy="225368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Kurtosis - an overview | ScienceDirect ...">
            <a:extLst>
              <a:ext uri="{FF2B5EF4-FFF2-40B4-BE49-F238E27FC236}">
                <a16:creationId xmlns:a16="http://schemas.microsoft.com/office/drawing/2014/main" id="{F1C56B0C-6839-12F0-0CF2-A818B2CF84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1417" y="3474731"/>
            <a:ext cx="4790583" cy="2789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758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0DBE6A4-683F-AD68-6DF1-79E5E248CCC1}"/>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1A51BE01-D77E-B690-2130-9840F9C33FD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HANDLING OUTLIERS</a:t>
            </a:r>
          </a:p>
        </p:txBody>
      </p:sp>
      <p:pic>
        <p:nvPicPr>
          <p:cNvPr id="5" name="Content Placeholder 4">
            <a:extLst>
              <a:ext uri="{FF2B5EF4-FFF2-40B4-BE49-F238E27FC236}">
                <a16:creationId xmlns:a16="http://schemas.microsoft.com/office/drawing/2014/main" id="{512FC976-327E-6D5B-EF2C-91CCEEE070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36221" y="1169248"/>
            <a:ext cx="4855779" cy="4351338"/>
          </a:xfrm>
        </p:spPr>
      </p:pic>
      <p:sp>
        <p:nvSpPr>
          <p:cNvPr id="7" name="TextBox 6">
            <a:extLst>
              <a:ext uri="{FF2B5EF4-FFF2-40B4-BE49-F238E27FC236}">
                <a16:creationId xmlns:a16="http://schemas.microsoft.com/office/drawing/2014/main" id="{6105ACC6-2104-7A8E-D0AA-C825D988F121}"/>
              </a:ext>
            </a:extLst>
          </p:cNvPr>
          <p:cNvSpPr txBox="1"/>
          <p:nvPr/>
        </p:nvSpPr>
        <p:spPr>
          <a:xfrm>
            <a:off x="1039211" y="1793423"/>
            <a:ext cx="6096000" cy="3251403"/>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Outliers were  identified in the price variable</a:t>
            </a:r>
            <a:endParaRPr lang="en-US" sz="2400" kern="1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Adjusted by replacing them with the mean value of the ‘price’ variable.</a:t>
            </a:r>
          </a:p>
          <a:p>
            <a:pPr marL="285750" indent="-285750">
              <a:lnSpc>
                <a:spcPct val="107000"/>
              </a:lnSpc>
              <a:spcAft>
                <a:spcPts val="800"/>
              </a:spcAft>
              <a:buFont typeface="Arial" panose="020B0604020202020204" pitchFamily="34" charset="0"/>
              <a:buChar char="•"/>
            </a:pP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Effectively managed, ensuring  a more reliable dataset for further analysis.</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53254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9A64634-AB57-7B79-349C-C63FF7A9840E}"/>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93FBBC5B-76E8-F49F-D6B5-7BCA9EBE8047}"/>
              </a:ext>
            </a:extLst>
          </p:cNvPr>
          <p:cNvSpPr>
            <a:spLocks noGrp="1"/>
          </p:cNvSpPr>
          <p:nvPr>
            <p:ph idx="1"/>
          </p:nvPr>
        </p:nvSpPr>
        <p:spPr>
          <a:xfrm>
            <a:off x="718127" y="1791183"/>
            <a:ext cx="10515600" cy="4673984"/>
          </a:xfrm>
        </p:spPr>
        <p:txBody>
          <a:bodyPr>
            <a:normAutofit/>
          </a:bodyPr>
          <a:lstStyle/>
          <a:p>
            <a:pPr algn="just"/>
            <a:r>
              <a:rPr lang="en-US" sz="2400" b="1" dirty="0">
                <a:latin typeface="Times New Roman" panose="02020603050405020304" pitchFamily="18" charset="0"/>
                <a:cs typeface="Times New Roman" panose="02020603050405020304" pitchFamily="18" charset="0"/>
              </a:rPr>
              <a:t>Objective:</a:t>
            </a:r>
            <a:r>
              <a:rPr lang="en-US" sz="2400" dirty="0">
                <a:latin typeface="Times New Roman" panose="02020603050405020304" pitchFamily="18" charset="0"/>
                <a:cs typeface="Times New Roman" panose="02020603050405020304" pitchFamily="18" charset="0"/>
              </a:rPr>
              <a:t>The main objective is to determine and check that is there any significant correlation between the price of the smartphones and its user ratings.</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Null Hypothesis (H₀): </a:t>
            </a:r>
            <a:r>
              <a:rPr lang="en-US" sz="2400" dirty="0">
                <a:latin typeface="Times New Roman" panose="02020603050405020304" pitchFamily="18" charset="0"/>
                <a:cs typeface="Times New Roman" panose="02020603050405020304" pitchFamily="18" charset="0"/>
              </a:rPr>
              <a:t>There is no significant correlation between the price of a smartphone and the user rating(correlation=0). </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Alternative Hypothesis (H₁): </a:t>
            </a:r>
            <a:r>
              <a:rPr lang="en-US" sz="2400" dirty="0">
                <a:latin typeface="Times New Roman" panose="02020603050405020304" pitchFamily="18" charset="0"/>
                <a:cs typeface="Times New Roman" panose="02020603050405020304" pitchFamily="18" charset="0"/>
              </a:rPr>
              <a:t>There is a significant correlation between the price of smartphones and the user ratings(correlation&gt;0).</a:t>
            </a:r>
          </a:p>
        </p:txBody>
      </p:sp>
      <p:sp>
        <p:nvSpPr>
          <p:cNvPr id="4" name="Title 1">
            <a:extLst>
              <a:ext uri="{FF2B5EF4-FFF2-40B4-BE49-F238E27FC236}">
                <a16:creationId xmlns:a16="http://schemas.microsoft.com/office/drawing/2014/main" id="{1BFC47FA-90D9-150B-8784-CBFC683F2AFD}"/>
              </a:ext>
            </a:extLst>
          </p:cNvPr>
          <p:cNvSpPr txBox="1">
            <a:spLocks/>
          </p:cNvSpPr>
          <p:nvPr/>
        </p:nvSpPr>
        <p:spPr>
          <a:xfrm>
            <a:off x="838200" y="39283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HYPOTHESIS TESTING</a:t>
            </a:r>
          </a:p>
        </p:txBody>
      </p:sp>
    </p:spTree>
    <p:extLst>
      <p:ext uri="{BB962C8B-B14F-4D97-AF65-F5344CB8AC3E}">
        <p14:creationId xmlns:p14="http://schemas.microsoft.com/office/powerpoint/2010/main" val="4084071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45CAFC-753E-C237-BCAD-26A4C2B87FC8}"/>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CACB700-0C04-B6DF-0CCD-9056169FCD9A}"/>
              </a:ext>
            </a:extLst>
          </p:cNvPr>
          <p:cNvSpPr>
            <a:spLocks noGrp="1"/>
          </p:cNvSpPr>
          <p:nvPr>
            <p:ph type="title"/>
          </p:nvPr>
        </p:nvSpPr>
        <p:spPr>
          <a:xfrm>
            <a:off x="838200" y="268834"/>
            <a:ext cx="10515600" cy="1325563"/>
          </a:xfrm>
        </p:spPr>
        <p:txBody>
          <a:bodyPr/>
          <a:lstStyle/>
          <a:p>
            <a:r>
              <a:rPr lang="en-US" dirty="0">
                <a:latin typeface="Times New Roman" panose="02020603050405020304" pitchFamily="18" charset="0"/>
                <a:cs typeface="Times New Roman" panose="02020603050405020304" pitchFamily="18" charset="0"/>
              </a:rPr>
              <a:t>RESULTS OF HYPOTHESIS</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69493F76-186E-D656-59F4-48CB142C7A5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28745" y="1712529"/>
            <a:ext cx="6863255" cy="2609850"/>
          </a:xfrm>
        </p:spPr>
      </p:pic>
      <p:sp>
        <p:nvSpPr>
          <p:cNvPr id="7" name="TextBox 6">
            <a:extLst>
              <a:ext uri="{FF2B5EF4-FFF2-40B4-BE49-F238E27FC236}">
                <a16:creationId xmlns:a16="http://schemas.microsoft.com/office/drawing/2014/main" id="{3F8EFDA7-B926-6189-4F5C-08972019A30C}"/>
              </a:ext>
            </a:extLst>
          </p:cNvPr>
          <p:cNvSpPr txBox="1"/>
          <p:nvPr/>
        </p:nvSpPr>
        <p:spPr>
          <a:xfrm>
            <a:off x="733097" y="1923858"/>
            <a:ext cx="4480034" cy="5423344"/>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T-statistics: </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9.766</a:t>
            </a:r>
          </a:p>
          <a:p>
            <a:pPr marL="285750" indent="-285750">
              <a:lnSpc>
                <a:spcPct val="107000"/>
              </a:lnSpc>
              <a:spcAft>
                <a:spcPts val="800"/>
              </a:spcAft>
              <a:buFont typeface="Arial" panose="020B0604020202020204" pitchFamily="34" charset="0"/>
              <a:buChar char="•"/>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Degrees of freedom:</a:t>
            </a:r>
            <a:r>
              <a:rPr lang="en-US" sz="2400" kern="100" dirty="0">
                <a:latin typeface="Times New Roman" panose="02020603050405020304" pitchFamily="18" charset="0"/>
                <a:ea typeface="Calibri" panose="020F0502020204030204" pitchFamily="34" charset="0"/>
                <a:cs typeface="Times New Roman" panose="02020603050405020304" pitchFamily="18" charset="0"/>
              </a:rPr>
              <a:t>814.97</a:t>
            </a:r>
          </a:p>
          <a:p>
            <a:pPr marL="285750" indent="-285750">
              <a:lnSpc>
                <a:spcPct val="107000"/>
              </a:lnSpc>
              <a:spcAft>
                <a:spcPts val="800"/>
              </a:spcAft>
              <a:buFont typeface="Arial" panose="020B0604020202020204" pitchFamily="34" charset="0"/>
              <a:buChar char="•"/>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P-value</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&lt;0.0001, with 5% significance level-indicates a statistically significant difference.</a:t>
            </a:r>
          </a:p>
          <a:p>
            <a:pPr marL="285750" indent="-285750">
              <a:lnSpc>
                <a:spcPct val="107000"/>
              </a:lnSpc>
              <a:spcAft>
                <a:spcPts val="800"/>
              </a:spcAft>
              <a:buFont typeface="Arial" panose="020B0604020202020204" pitchFamily="34" charset="0"/>
              <a:buChar char="•"/>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Conclusion: </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Re</a:t>
            </a:r>
            <a:r>
              <a:rPr lang="en-US" sz="2400" kern="100" dirty="0">
                <a:latin typeface="Times New Roman" panose="02020603050405020304" pitchFamily="18" charset="0"/>
                <a:ea typeface="Calibri" panose="020F0502020204030204" pitchFamily="34" charset="0"/>
                <a:cs typeface="Times New Roman" panose="02020603050405020304" pitchFamily="18" charset="0"/>
              </a:rPr>
              <a:t>ject Null  hypothesis; There is a significant differences .</a:t>
            </a:r>
          </a:p>
          <a:p>
            <a:pPr>
              <a:lnSpc>
                <a:spcPct val="107000"/>
              </a:lnSpc>
              <a:spcAft>
                <a:spcPts val="800"/>
              </a:spcAft>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  </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00280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6046B38-4F2B-871D-FA79-519D0E17B5B2}"/>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3CEAC36-9775-F2A6-09A1-8CD08CF4337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ONE WAY ANOVA AND RESULTS</a:t>
            </a:r>
          </a:p>
        </p:txBody>
      </p:sp>
      <p:sp>
        <p:nvSpPr>
          <p:cNvPr id="3" name="Content Placeholder 2">
            <a:extLst>
              <a:ext uri="{FF2B5EF4-FFF2-40B4-BE49-F238E27FC236}">
                <a16:creationId xmlns:a16="http://schemas.microsoft.com/office/drawing/2014/main" id="{59D6D506-287A-4274-CACA-6217E5F9A0B2}"/>
              </a:ext>
            </a:extLst>
          </p:cNvPr>
          <p:cNvSpPr>
            <a:spLocks noGrp="1"/>
          </p:cNvSpPr>
          <p:nvPr>
            <p:ph idx="1"/>
          </p:nvPr>
        </p:nvSpPr>
        <p:spPr/>
        <p:txBody>
          <a:bodyPr>
            <a:noAutofit/>
          </a:bodyPr>
          <a:lstStyle/>
          <a:p>
            <a:r>
              <a:rPr lang="en-US" dirty="0">
                <a:latin typeface="Times New Roman" panose="02020603050405020304" pitchFamily="18" charset="0"/>
                <a:cs typeface="Times New Roman" panose="02020603050405020304" pitchFamily="18" charset="0"/>
              </a:rPr>
              <a:t>F-value = 24.87, P-value = &lt;2e – 16</a:t>
            </a:r>
          </a:p>
          <a:p>
            <a:pPr marL="0" indent="0">
              <a:buNone/>
            </a:pPr>
            <a:r>
              <a:rPr lang="en-US" b="1" dirty="0">
                <a:latin typeface="Times New Roman" panose="02020603050405020304" pitchFamily="18" charset="0"/>
                <a:cs typeface="Times New Roman" panose="02020603050405020304" pitchFamily="18" charset="0"/>
              </a:rPr>
              <a:t>Interpretation: </a:t>
            </a:r>
            <a:r>
              <a:rPr lang="en-US" dirty="0">
                <a:latin typeface="Times New Roman" panose="02020603050405020304" pitchFamily="18" charset="0"/>
                <a:cs typeface="Times New Roman" panose="02020603050405020304" pitchFamily="18" charset="0"/>
              </a:rPr>
              <a:t>Here p value is small where F value is large, so we concluded that they are statistically  different between prices and various processor brands.</a:t>
            </a:r>
          </a:p>
          <a:p>
            <a:pPr marL="0" indent="0">
              <a:buNone/>
            </a:pPr>
            <a:r>
              <a:rPr lang="en-US" b="1" dirty="0">
                <a:latin typeface="Times New Roman" panose="02020603050405020304" pitchFamily="18" charset="0"/>
                <a:cs typeface="Times New Roman" panose="02020603050405020304" pitchFamily="18" charset="0"/>
              </a:rPr>
              <a:t>Conclusion :</a:t>
            </a:r>
          </a:p>
          <a:p>
            <a:r>
              <a:rPr lang="en-US" dirty="0">
                <a:latin typeface="Times New Roman" panose="02020603050405020304" pitchFamily="18" charset="0"/>
                <a:cs typeface="Times New Roman" panose="02020603050405020304" pitchFamily="18" charset="0"/>
              </a:rPr>
              <a:t>The results of the one-way ANOVA is statistically differences in smartphones costs on various processor brands.</a:t>
            </a:r>
          </a:p>
          <a:p>
            <a:pPr marL="0" indent="0">
              <a:buNone/>
            </a:pPr>
            <a:r>
              <a:rPr lang="en-US" b="1" dirty="0">
                <a:latin typeface="Times New Roman" panose="02020603050405020304" pitchFamily="18" charset="0"/>
                <a:cs typeface="Times New Roman" panose="02020603050405020304" pitchFamily="18" charset="0"/>
              </a:rPr>
              <a:t>Outcomes : </a:t>
            </a:r>
          </a:p>
          <a:p>
            <a:r>
              <a:rPr lang="en-US" dirty="0">
                <a:latin typeface="Times New Roman" panose="02020603050405020304" pitchFamily="18" charset="0"/>
                <a:cs typeface="Times New Roman" panose="02020603050405020304" pitchFamily="18" charset="0"/>
              </a:rPr>
              <a:t>Smartphones prices differ by processor brands </a:t>
            </a:r>
          </a:p>
          <a:p>
            <a:r>
              <a:rPr lang="en-US" dirty="0">
                <a:latin typeface="Times New Roman" panose="02020603050405020304" pitchFamily="18" charset="0"/>
                <a:cs typeface="Times New Roman" panose="02020603050405020304" pitchFamily="18" charset="0"/>
              </a:rPr>
              <a:t>It is useful for both businesses and buyers to make decisions easier.</a:t>
            </a:r>
          </a:p>
          <a:p>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89079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6BA41D-23F7-3D69-7C22-B66D3CB6840E}"/>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984D388A-7299-319C-50CB-B85BB0905F9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TWO WAY ANOVA TEST AND RESULTS</a:t>
            </a:r>
          </a:p>
        </p:txBody>
      </p:sp>
      <p:sp>
        <p:nvSpPr>
          <p:cNvPr id="3" name="Content Placeholder 2">
            <a:extLst>
              <a:ext uri="{FF2B5EF4-FFF2-40B4-BE49-F238E27FC236}">
                <a16:creationId xmlns:a16="http://schemas.microsoft.com/office/drawing/2014/main" id="{166F5941-70DD-324D-8EAA-6167263CF78C}"/>
              </a:ext>
            </a:extLst>
          </p:cNvPr>
          <p:cNvSpPr>
            <a:spLocks noGrp="1"/>
          </p:cNvSpPr>
          <p:nvPr>
            <p:ph idx="1"/>
          </p:nvPr>
        </p:nvSpPr>
        <p:spPr/>
        <p:txBody>
          <a:bodyPr>
            <a:noAutofit/>
          </a:bodyPr>
          <a:lstStyle/>
          <a:p>
            <a:r>
              <a:rPr lang="en-US" sz="2400" b="1" dirty="0">
                <a:latin typeface="Times New Roman" panose="02020603050405020304" pitchFamily="18" charset="0"/>
                <a:cs typeface="Times New Roman" panose="02020603050405020304" pitchFamily="18" charset="0"/>
              </a:rPr>
              <a:t>Processor Brand</a:t>
            </a:r>
          </a:p>
          <a:p>
            <a:pPr marL="0" indent="0">
              <a:buNone/>
            </a:pPr>
            <a:r>
              <a:rPr lang="en-US" sz="2400" dirty="0">
                <a:latin typeface="Times New Roman" panose="02020603050405020304" pitchFamily="18" charset="0"/>
                <a:cs typeface="Times New Roman" panose="02020603050405020304" pitchFamily="18" charset="0"/>
              </a:rPr>
              <a:t>F-value = 25.894 , P-value = &lt;2e-16</a:t>
            </a:r>
          </a:p>
          <a:p>
            <a:pPr marL="0" indent="0">
              <a:buNone/>
            </a:pPr>
            <a:r>
              <a:rPr lang="en-US" sz="2400" dirty="0">
                <a:latin typeface="Times New Roman" panose="02020603050405020304" pitchFamily="18" charset="0"/>
                <a:cs typeface="Times New Roman" panose="02020603050405020304" pitchFamily="18" charset="0"/>
              </a:rPr>
              <a:t>5-G</a:t>
            </a:r>
          </a:p>
          <a:p>
            <a:pPr marL="0" indent="0">
              <a:buNone/>
            </a:pPr>
            <a:r>
              <a:rPr lang="en-US" sz="2400" dirty="0">
                <a:latin typeface="Times New Roman" panose="02020603050405020304" pitchFamily="18" charset="0"/>
                <a:cs typeface="Times New Roman" panose="02020603050405020304" pitchFamily="18" charset="0"/>
              </a:rPr>
              <a:t>F-value = 27.237 , P-value= 2.22e-07</a:t>
            </a:r>
          </a:p>
          <a:p>
            <a:pPr marL="0" indent="0">
              <a:buNone/>
            </a:pPr>
            <a:r>
              <a:rPr lang="en-US" sz="2400" b="1" dirty="0">
                <a:latin typeface="Times New Roman" panose="02020603050405020304" pitchFamily="18" charset="0"/>
                <a:cs typeface="Times New Roman" panose="02020603050405020304" pitchFamily="18" charset="0"/>
              </a:rPr>
              <a:t>Conclusion: </a:t>
            </a:r>
          </a:p>
          <a:p>
            <a:r>
              <a:rPr lang="en-US" sz="2400" dirty="0">
                <a:latin typeface="Times New Roman" panose="02020603050405020304" pitchFamily="18" charset="0"/>
                <a:cs typeface="Times New Roman" panose="02020603050405020304" pitchFamily="18" charset="0"/>
              </a:rPr>
              <a:t>Different processor brands affects the prices</a:t>
            </a:r>
          </a:p>
          <a:p>
            <a:r>
              <a:rPr lang="en-US" sz="2400" dirty="0">
                <a:latin typeface="Times New Roman" panose="02020603050405020304" pitchFamily="18" charset="0"/>
                <a:cs typeface="Times New Roman" panose="02020603050405020304" pitchFamily="18" charset="0"/>
              </a:rPr>
              <a:t>Phones with 5G capability costs more  and less cost depends upon the capabilities.</a:t>
            </a:r>
          </a:p>
          <a:p>
            <a:pPr marL="0" indent="0">
              <a:buNone/>
            </a:pPr>
            <a:r>
              <a:rPr lang="en-US" sz="2400" b="1" dirty="0">
                <a:latin typeface="Times New Roman" panose="02020603050405020304" pitchFamily="18" charset="0"/>
                <a:cs typeface="Times New Roman" panose="02020603050405020304" pitchFamily="18" charset="0"/>
              </a:rPr>
              <a:t>Outcomes:</a:t>
            </a:r>
          </a:p>
          <a:p>
            <a:r>
              <a:rPr lang="en-US" sz="2400" dirty="0">
                <a:latin typeface="Times New Roman" panose="02020603050405020304" pitchFamily="18" charset="0"/>
                <a:cs typeface="Times New Roman" panose="02020603050405020304" pitchFamily="18" charset="0"/>
              </a:rPr>
              <a:t>Processor and 5G mobiles costs more.</a:t>
            </a:r>
          </a:p>
          <a:p>
            <a:r>
              <a:rPr lang="en-US" sz="2400" dirty="0">
                <a:latin typeface="Times New Roman" panose="02020603050405020304" pitchFamily="18" charset="0"/>
                <a:cs typeface="Times New Roman" panose="02020603050405020304" pitchFamily="18" charset="0"/>
              </a:rPr>
              <a:t>Prices may differ with 5G and without 5G.</a:t>
            </a:r>
          </a:p>
          <a:p>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endParaRPr lang="en-US" sz="2400" dirty="0"/>
          </a:p>
        </p:txBody>
      </p:sp>
    </p:spTree>
    <p:extLst>
      <p:ext uri="{BB962C8B-B14F-4D97-AF65-F5344CB8AC3E}">
        <p14:creationId xmlns:p14="http://schemas.microsoft.com/office/powerpoint/2010/main" val="247776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EE4B0B-29B0-2232-9589-E8EA81FCA85F}"/>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FA17411-E47A-B7AC-7F53-8E961B9F87C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CHI-SQUARED TEST</a:t>
            </a:r>
          </a:p>
        </p:txBody>
      </p:sp>
      <p:sp>
        <p:nvSpPr>
          <p:cNvPr id="3" name="Content Placeholder 2">
            <a:extLst>
              <a:ext uri="{FF2B5EF4-FFF2-40B4-BE49-F238E27FC236}">
                <a16:creationId xmlns:a16="http://schemas.microsoft.com/office/drawing/2014/main" id="{4861D66F-F94A-0E3A-D9EB-728E060786A2}"/>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Association between has 5G capability and has NFC Capability.</a:t>
            </a:r>
          </a:p>
          <a:p>
            <a:r>
              <a:rPr lang="en-US" dirty="0">
                <a:latin typeface="Times New Roman" panose="02020603050405020304" pitchFamily="18" charset="0"/>
                <a:cs typeface="Times New Roman" panose="02020603050405020304" pitchFamily="18" charset="0"/>
              </a:rPr>
              <a:t>Chi Square value (X-Squared) – 9.2184</a:t>
            </a:r>
          </a:p>
          <a:p>
            <a:r>
              <a:rPr lang="en-US" dirty="0">
                <a:latin typeface="Times New Roman" panose="02020603050405020304" pitchFamily="18" charset="0"/>
                <a:cs typeface="Times New Roman" panose="02020603050405020304" pitchFamily="18" charset="0"/>
              </a:rPr>
              <a:t>It has Degrees of freedom (df) is - 1</a:t>
            </a:r>
          </a:p>
          <a:p>
            <a:r>
              <a:rPr lang="en-US" dirty="0">
                <a:latin typeface="Times New Roman" panose="02020603050405020304" pitchFamily="18" charset="0"/>
                <a:cs typeface="Times New Roman" panose="02020603050405020304" pitchFamily="18" charset="0"/>
              </a:rPr>
              <a:t>value of p is 0.002396</a:t>
            </a:r>
          </a:p>
          <a:p>
            <a:pPr marL="0" indent="0">
              <a:buNone/>
            </a:pPr>
            <a:r>
              <a:rPr lang="en-US" b="1" dirty="0">
                <a:latin typeface="Times New Roman" panose="02020603050405020304" pitchFamily="18" charset="0"/>
                <a:cs typeface="Times New Roman" panose="02020603050405020304" pitchFamily="18" charset="0"/>
              </a:rPr>
              <a:t>Conclusion:</a:t>
            </a:r>
          </a:p>
          <a:p>
            <a:pPr marL="0" indent="0">
              <a:buNone/>
            </a:pPr>
            <a:r>
              <a:rPr lang="en-US" dirty="0">
                <a:latin typeface="Times New Roman" panose="02020603050405020304" pitchFamily="18" charset="0"/>
                <a:cs typeface="Times New Roman" panose="02020603050405020304" pitchFamily="18" charset="0"/>
              </a:rPr>
              <a:t>We reject the Null hypothesis(H0) while value of p is extremely small, so there is significantly association between smartphones having 5G capability and having NFC capability.</a:t>
            </a:r>
          </a:p>
          <a:p>
            <a:pPr marL="0" indent="0">
              <a:buNone/>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4319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2E7013-B05B-3AE7-EFDF-ED51088A5A88}"/>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94EF7C7-3022-893A-2543-EAD57E2F3FF8}"/>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TWO WAY CHI-SQUARED TEST</a:t>
            </a:r>
          </a:p>
        </p:txBody>
      </p:sp>
      <p:sp>
        <p:nvSpPr>
          <p:cNvPr id="3" name="Content Placeholder 2">
            <a:extLst>
              <a:ext uri="{FF2B5EF4-FFF2-40B4-BE49-F238E27FC236}">
                <a16:creationId xmlns:a16="http://schemas.microsoft.com/office/drawing/2014/main" id="{A66BD4F3-ECE0-E6EA-4F3E-E66A0A434300}"/>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Association between 5G and processor brand</a:t>
            </a:r>
          </a:p>
          <a:p>
            <a:r>
              <a:rPr lang="en-US" dirty="0">
                <a:latin typeface="Times New Roman" panose="02020603050405020304" pitchFamily="18" charset="0"/>
                <a:cs typeface="Times New Roman" panose="02020603050405020304" pitchFamily="18" charset="0"/>
              </a:rPr>
              <a:t>Chi Square value – 174.77</a:t>
            </a:r>
          </a:p>
          <a:p>
            <a:r>
              <a:rPr lang="en-US" dirty="0">
                <a:latin typeface="Times New Roman" panose="02020603050405020304" pitchFamily="18" charset="0"/>
                <a:cs typeface="Times New Roman" panose="02020603050405020304" pitchFamily="18" charset="0"/>
              </a:rPr>
              <a:t>Degrees of freedom (df) -6</a:t>
            </a:r>
          </a:p>
          <a:p>
            <a:r>
              <a:rPr lang="en-US" dirty="0">
                <a:latin typeface="Times New Roman" panose="02020603050405020304" pitchFamily="18" charset="0"/>
                <a:cs typeface="Times New Roman" panose="02020603050405020304" pitchFamily="18" charset="0"/>
              </a:rPr>
              <a:t>P value : &lt; 2.2e-16</a:t>
            </a:r>
          </a:p>
          <a:p>
            <a:pPr marL="0" indent="0">
              <a:buNone/>
            </a:pPr>
            <a:r>
              <a:rPr lang="en-US" b="1" dirty="0">
                <a:latin typeface="Times New Roman" panose="02020603050405020304" pitchFamily="18" charset="0"/>
                <a:cs typeface="Times New Roman" panose="02020603050405020304" pitchFamily="18" charset="0"/>
              </a:rPr>
              <a:t>Conclusion:</a:t>
            </a:r>
          </a:p>
          <a:p>
            <a:pPr marL="0" indent="0">
              <a:buNone/>
            </a:pPr>
            <a:r>
              <a:rPr lang="en-US" dirty="0">
                <a:latin typeface="Times New Roman" panose="02020603050405020304" pitchFamily="18" charset="0"/>
                <a:cs typeface="Times New Roman" panose="02020603050405020304" pitchFamily="18" charset="0"/>
              </a:rPr>
              <a:t>Rejecting the null hypothesis (H0) because the value of p is extremely small which means there is a significant association between 5G and processor brands.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223621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B5EC03-63F1-3B49-391B-85D659FD52F5}"/>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96D4158-6BF5-05CC-57DB-62280E161F5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LINEAR REGRESSION</a:t>
            </a:r>
          </a:p>
        </p:txBody>
      </p:sp>
      <p:pic>
        <p:nvPicPr>
          <p:cNvPr id="5" name="Content Placeholder 4">
            <a:extLst>
              <a:ext uri="{FF2B5EF4-FFF2-40B4-BE49-F238E27FC236}">
                <a16:creationId xmlns:a16="http://schemas.microsoft.com/office/drawing/2014/main" id="{AF47DCB8-FA10-FC4A-D43F-37C4ADBE4E85}"/>
              </a:ext>
            </a:extLst>
          </p:cNvPr>
          <p:cNvPicPr>
            <a:picLocks noGrp="1" noChangeAspect="1"/>
          </p:cNvPicPr>
          <p:nvPr>
            <p:ph idx="1"/>
          </p:nvPr>
        </p:nvPicPr>
        <p:blipFill>
          <a:blip r:embed="rId2"/>
          <a:srcRect t="24340"/>
          <a:stretch/>
        </p:blipFill>
        <p:spPr>
          <a:xfrm>
            <a:off x="119743" y="1883229"/>
            <a:ext cx="10199914" cy="4293733"/>
          </a:xfrm>
        </p:spPr>
      </p:pic>
    </p:spTree>
    <p:extLst>
      <p:ext uri="{BB962C8B-B14F-4D97-AF65-F5344CB8AC3E}">
        <p14:creationId xmlns:p14="http://schemas.microsoft.com/office/powerpoint/2010/main" val="1049870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8D0D7C1-45C4-2E38-ECE0-BD1AC0379092}"/>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986457F-A4CC-BE91-6FCF-C37F3E0F5FE3}"/>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LINEAR REGRESSION-Predicting Price based on screen size and has 5g</a:t>
            </a:r>
          </a:p>
        </p:txBody>
      </p:sp>
      <p:sp>
        <p:nvSpPr>
          <p:cNvPr id="3" name="Content Placeholder 2">
            <a:extLst>
              <a:ext uri="{FF2B5EF4-FFF2-40B4-BE49-F238E27FC236}">
                <a16:creationId xmlns:a16="http://schemas.microsoft.com/office/drawing/2014/main" id="{557BBA29-B3A5-70C1-CDED-6AD7FD58F9D7}"/>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Price= </a:t>
            </a:r>
            <a:r>
              <a:rPr lang="en-IN" dirty="0">
                <a:latin typeface="Times New Roman" panose="02020603050405020304" pitchFamily="18" charset="0"/>
                <a:cs typeface="Times New Roman" panose="02020603050405020304" pitchFamily="18" charset="0"/>
              </a:rPr>
              <a:t>β0 + β1 . brand+ β2 . battery + β3 . Fast charging+ β4 . has </a:t>
            </a:r>
            <a:r>
              <a:rPr lang="en-IN" dirty="0" err="1">
                <a:latin typeface="Times New Roman" panose="02020603050405020304" pitchFamily="18" charset="0"/>
                <a:cs typeface="Times New Roman" panose="02020603050405020304" pitchFamily="18" charset="0"/>
              </a:rPr>
              <a:t>nfc</a:t>
            </a:r>
            <a:r>
              <a:rPr lang="en-IN" dirty="0">
                <a:latin typeface="Times New Roman" panose="02020603050405020304" pitchFamily="18" charset="0"/>
                <a:cs typeface="Times New Roman" panose="02020603050405020304" pitchFamily="18" charset="0"/>
              </a:rPr>
              <a:t>+  β5 . Ram capacity +  ϵ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R-square: 0.09500919</a:t>
            </a:r>
          </a:p>
          <a:p>
            <a:r>
              <a:rPr lang="en-IN" dirty="0">
                <a:latin typeface="Times New Roman" panose="02020603050405020304" pitchFamily="18" charset="0"/>
                <a:cs typeface="Times New Roman" panose="02020603050405020304" pitchFamily="18" charset="0"/>
              </a:rPr>
              <a:t>Adjusted R-square: 0.0931566</a:t>
            </a:r>
          </a:p>
          <a:p>
            <a:r>
              <a:rPr lang="en-IN" dirty="0">
                <a:latin typeface="Times New Roman" panose="02020603050405020304" pitchFamily="18" charset="0"/>
                <a:cs typeface="Times New Roman" panose="02020603050405020304" pitchFamily="18" charset="0"/>
              </a:rPr>
              <a:t>The variables explain -9.31 of variance in price</a:t>
            </a:r>
          </a:p>
          <a:p>
            <a:r>
              <a:rPr lang="en-IN" sz="2800" dirty="0">
                <a:latin typeface="Times New Roman" panose="02020603050405020304" pitchFamily="18" charset="0"/>
                <a:cs typeface="Times New Roman" panose="02020603050405020304" pitchFamily="18" charset="0"/>
              </a:rPr>
              <a:t>Some predictors significantly influence price.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6878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EA3731D-244E-436E-1EF0-906D2F2BAAAC}"/>
              </a:ext>
            </a:extLst>
          </p:cNvPr>
          <p:cNvSpPr/>
          <p:nvPr/>
        </p:nvSpPr>
        <p:spPr>
          <a:xfrm>
            <a:off x="0" y="230188"/>
            <a:ext cx="12192000" cy="1408401"/>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F2330B5-D81D-42C5-5162-73D271F4016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088E9542-CA10-77B7-E306-A6A48ACF2BAC}"/>
              </a:ext>
            </a:extLst>
          </p:cNvPr>
          <p:cNvSpPr>
            <a:spLocks noGrp="1"/>
          </p:cNvSpPr>
          <p:nvPr>
            <p:ph idx="1"/>
          </p:nvPr>
        </p:nvSpPr>
        <p:spPr/>
        <p:txBody>
          <a:bodyPr/>
          <a:lstStyle/>
          <a:p>
            <a:r>
              <a:rPr lang="en-US" sz="2800" b="1" dirty="0">
                <a:latin typeface="Times New Roman" panose="02020603050405020304" pitchFamily="18" charset="0"/>
                <a:cs typeface="Times New Roman" panose="02020603050405020304" pitchFamily="18" charset="0"/>
              </a:rPr>
              <a:t>Dataset</a:t>
            </a:r>
            <a:r>
              <a:rPr lang="en-US" sz="2800" dirty="0">
                <a:latin typeface="Times New Roman" panose="02020603050405020304" pitchFamily="18" charset="0"/>
                <a:cs typeface="Times New Roman" panose="02020603050405020304" pitchFamily="18" charset="0"/>
              </a:rPr>
              <a:t>: The analysis used data of 1020 mobile phones, examining various factors </a:t>
            </a:r>
            <a:r>
              <a:rPr lang="en-US" dirty="0">
                <a:latin typeface="Times New Roman" panose="02020603050405020304" pitchFamily="18" charset="0"/>
                <a:cs typeface="Times New Roman" panose="02020603050405020304" pitchFamily="18" charset="0"/>
              </a:rPr>
              <a:t>price, has_5g, </a:t>
            </a:r>
            <a:r>
              <a:rPr lang="en-US" dirty="0" err="1">
                <a:latin typeface="Times New Roman" panose="02020603050405020304" pitchFamily="18" charset="0"/>
                <a:cs typeface="Times New Roman" panose="02020603050405020304" pitchFamily="18" charset="0"/>
              </a:rPr>
              <a:t>has_nfc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battery_capacity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screen_size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ram_capacity</a:t>
            </a:r>
            <a:r>
              <a:rPr lang="en-US" sz="2800"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Key findings</a:t>
            </a:r>
            <a:r>
              <a:rPr lang="en-US" sz="2800"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Price variation: The price of the smart phones differ based on the brand of the processor used.</a:t>
            </a:r>
          </a:p>
          <a:p>
            <a:r>
              <a:rPr lang="en-US" sz="2800" dirty="0">
                <a:latin typeface="Times New Roman" panose="02020603050405020304" pitchFamily="18" charset="0"/>
                <a:cs typeface="Times New Roman" panose="02020603050405020304" pitchFamily="18" charset="0"/>
              </a:rPr>
              <a:t>Cost effective: Smartphones with </a:t>
            </a:r>
            <a:r>
              <a:rPr lang="en-US" dirty="0">
                <a:latin typeface="Times New Roman" panose="02020603050405020304" pitchFamily="18" charset="0"/>
                <a:cs typeface="Times New Roman" panose="02020603050405020304" pitchFamily="18" charset="0"/>
              </a:rPr>
              <a:t>5g network are more costlier than the phones without 5g.</a:t>
            </a:r>
          </a:p>
          <a:p>
            <a:pPr marL="0" indent="0">
              <a:buNone/>
            </a:pPr>
            <a:endParaRPr lang="en-US" sz="28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30080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6084CD-D48F-D707-9F16-72B4C7A8829A}"/>
              </a:ext>
            </a:extLst>
          </p:cNvPr>
          <p:cNvSpPr>
            <a:spLocks noGrp="1"/>
          </p:cNvSpPr>
          <p:nvPr>
            <p:ph idx="1"/>
          </p:nvPr>
        </p:nvSpPr>
        <p:spPr>
          <a:xfrm>
            <a:off x="528810" y="572877"/>
            <a:ext cx="10824990" cy="5604086"/>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Actions needed:</a:t>
            </a:r>
          </a:p>
          <a:p>
            <a:r>
              <a:rPr lang="en-US" sz="2400" b="1" dirty="0">
                <a:latin typeface="Times New Roman" panose="02020603050405020304" pitchFamily="18" charset="0"/>
                <a:cs typeface="Times New Roman" panose="02020603050405020304" pitchFamily="18" charset="0"/>
              </a:rPr>
              <a:t>Focus on Affordability and Value</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Observation</a:t>
            </a:r>
            <a:r>
              <a:rPr lang="en-US" sz="2400" dirty="0">
                <a:latin typeface="Times New Roman" panose="02020603050405020304" pitchFamily="18" charset="0"/>
                <a:cs typeface="Times New Roman" panose="02020603050405020304" pitchFamily="18" charset="0"/>
              </a:rPr>
              <a:t>: A wide price range suggests a market demand for both budget and premium smartphones. </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Action</a:t>
            </a:r>
            <a:r>
              <a:rPr lang="en-US" sz="24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Expand mid-range smartphone offerings with competitive features like 5G, high refresh rates, and good cameras.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Offer feature-rich entry-level models for emerging markets to capture a broader audience.</a:t>
            </a:r>
          </a:p>
          <a:p>
            <a:pPr marL="0" indent="0">
              <a:buNone/>
            </a:pPr>
            <a:r>
              <a:rPr lang="en-US" sz="2600" b="1" dirty="0">
                <a:latin typeface="Times New Roman" panose="02020603050405020304" pitchFamily="18" charset="0"/>
                <a:cs typeface="Times New Roman" panose="02020603050405020304" pitchFamily="18" charset="0"/>
              </a:rPr>
              <a:t>Expandable Memory for Budget Phones</a:t>
            </a:r>
          </a:p>
          <a:p>
            <a:pPr>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Observation</a:t>
            </a:r>
            <a:r>
              <a:rPr lang="en-US" sz="2600" dirty="0">
                <a:latin typeface="Times New Roman" panose="02020603050405020304" pitchFamily="18" charset="0"/>
                <a:cs typeface="Times New Roman" panose="02020603050405020304" pitchFamily="18" charset="0"/>
              </a:rPr>
              <a:t>: Some phones offer expandable memory, but it is not universal.</a:t>
            </a:r>
          </a:p>
          <a:p>
            <a:pPr>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Action</a:t>
            </a:r>
            <a:r>
              <a:rPr lang="en-US" sz="26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Include expandable memory options in entry-level and mid-range models to cater to users in regions where cloud storage is less prevalent.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5246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E0BD3D-F1A4-25CA-0465-E11FE47E932F}"/>
              </a:ext>
            </a:extLst>
          </p:cNvPr>
          <p:cNvSpPr>
            <a:spLocks noGrp="1"/>
          </p:cNvSpPr>
          <p:nvPr>
            <p:ph idx="1"/>
          </p:nvPr>
        </p:nvSpPr>
        <p:spPr>
          <a:xfrm>
            <a:off x="777148" y="720600"/>
            <a:ext cx="10637704" cy="5416799"/>
          </a:xfrm>
        </p:spPr>
        <p:txBody>
          <a:bodyPr/>
          <a:lstStyle/>
          <a:p>
            <a:pPr marL="0" indent="0">
              <a:buNone/>
            </a:pPr>
            <a:r>
              <a:rPr lang="en-US" sz="2400" b="1" dirty="0">
                <a:latin typeface="Times New Roman" panose="02020603050405020304" pitchFamily="18" charset="0"/>
                <a:cs typeface="Times New Roman" panose="02020603050405020304" pitchFamily="18" charset="0"/>
              </a:rPr>
              <a:t>Analyze Consumer Feedback</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Observation</a:t>
            </a:r>
            <a:r>
              <a:rPr lang="en-US" sz="2400" dirty="0">
                <a:latin typeface="Times New Roman" panose="02020603050405020304" pitchFamily="18" charset="0"/>
                <a:cs typeface="Times New Roman" panose="02020603050405020304" pitchFamily="18" charset="0"/>
              </a:rPr>
              <a:t>: Ratings in the dataset range from 75% to 89%, leaving room for improvement.</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Action</a:t>
            </a:r>
            <a:r>
              <a:rPr lang="en-US" sz="2400" dirty="0">
                <a:latin typeface="Times New Roman" panose="02020603050405020304" pitchFamily="18" charset="0"/>
                <a:cs typeface="Times New Roman" panose="02020603050405020304" pitchFamily="18" charset="0"/>
              </a:rPr>
              <a:t>:</a:t>
            </a:r>
          </a:p>
          <a:p>
            <a:pPr lvl="1">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Actively gather and analyze feedback from lower-rated models.</a:t>
            </a:r>
          </a:p>
          <a:p>
            <a:pPr lvl="1">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Address specific pain points such as UI experience, bloatware, or durability</a:t>
            </a:r>
            <a:r>
              <a:rPr lang="en-US" dirty="0"/>
              <a:t>.</a:t>
            </a:r>
          </a:p>
          <a:p>
            <a:r>
              <a:rPr lang="en-US" sz="2400" b="1" dirty="0">
                <a:latin typeface="Times New Roman" panose="02020603050405020304" pitchFamily="18" charset="0"/>
                <a:cs typeface="Times New Roman" panose="02020603050405020304" pitchFamily="18" charset="0"/>
              </a:rPr>
              <a:t>By focusing on these areas, smartphone companies can better align their product offerings with consumer expectations and market trends</a:t>
            </a:r>
          </a:p>
        </p:txBody>
      </p:sp>
    </p:spTree>
    <p:extLst>
      <p:ext uri="{BB962C8B-B14F-4D97-AF65-F5344CB8AC3E}">
        <p14:creationId xmlns:p14="http://schemas.microsoft.com/office/powerpoint/2010/main" val="2052647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4B8A58-61E5-780A-B58F-7622F6EC3B9A}"/>
              </a:ext>
            </a:extLst>
          </p:cNvPr>
          <p:cNvSpPr/>
          <p:nvPr/>
        </p:nvSpPr>
        <p:spPr>
          <a:xfrm>
            <a:off x="0" y="1163783"/>
            <a:ext cx="12192000" cy="4544290"/>
          </a:xfrm>
          <a:prstGeom prst="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B9680514-818E-068B-15D8-C89D45492435}"/>
              </a:ext>
            </a:extLst>
          </p:cNvPr>
          <p:cNvSpPr>
            <a:spLocks noGrp="1"/>
          </p:cNvSpPr>
          <p:nvPr>
            <p:ph idx="1"/>
          </p:nvPr>
        </p:nvSpPr>
        <p:spPr>
          <a:xfrm>
            <a:off x="838200" y="2895599"/>
            <a:ext cx="10515600" cy="1817915"/>
          </a:xfrm>
        </p:spPr>
        <p:txBody>
          <a:bodyPr>
            <a:normAutofit/>
          </a:bodyPr>
          <a:lstStyle/>
          <a:p>
            <a:pPr marL="0" indent="0" algn="ctr">
              <a:buNone/>
            </a:pPr>
            <a:r>
              <a:rPr lang="en-US" sz="9600" dirty="0">
                <a:latin typeface="Times New Roman" panose="02020603050405020304" pitchFamily="18" charset="0"/>
                <a:cs typeface="Times New Roman" panose="02020603050405020304" pitchFamily="18" charset="0"/>
              </a:rPr>
              <a:t>THANK</a:t>
            </a:r>
            <a:r>
              <a:rPr lang="en-US" sz="9600" dirty="0"/>
              <a:t> </a:t>
            </a:r>
            <a:r>
              <a:rPr lang="en-US" sz="9600" dirty="0">
                <a:latin typeface="Times New Roman" panose="02020603050405020304" pitchFamily="18" charset="0"/>
                <a:cs typeface="Times New Roman" panose="02020603050405020304" pitchFamily="18" charset="0"/>
              </a:rPr>
              <a:t>YOU</a:t>
            </a:r>
          </a:p>
        </p:txBody>
      </p:sp>
    </p:spTree>
    <p:extLst>
      <p:ext uri="{BB962C8B-B14F-4D97-AF65-F5344CB8AC3E}">
        <p14:creationId xmlns:p14="http://schemas.microsoft.com/office/powerpoint/2010/main" val="1180614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250</TotalTime>
  <Words>1257</Words>
  <Application>Microsoft Office PowerPoint</Application>
  <PresentationFormat>Widescreen</PresentationFormat>
  <Paragraphs>234</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Courier New</vt:lpstr>
      <vt:lpstr>Times New Roman</vt:lpstr>
      <vt:lpstr>Office Theme</vt:lpstr>
      <vt:lpstr>SMART PHONE DATA ANALYSIS</vt:lpstr>
      <vt:lpstr>INTRODUCTION</vt:lpstr>
      <vt:lpstr>DATASET EXPLANATION</vt:lpstr>
      <vt:lpstr>DATA CLEANING PROCESS</vt:lpstr>
      <vt:lpstr>DATA CLEANING PROCESS</vt:lpstr>
      <vt:lpstr>DESCRIPTIVE STATISTICS</vt:lpstr>
      <vt:lpstr>SKEWNESS AND KURTOSIS</vt:lpstr>
      <vt:lpstr>HANDLING OUTLIERS</vt:lpstr>
      <vt:lpstr>PowerPoint Presentation</vt:lpstr>
      <vt:lpstr>RESULTS OF HYPOTHESIS</vt:lpstr>
      <vt:lpstr>ONE WAY ANOVA AND RESULTS</vt:lpstr>
      <vt:lpstr>TWO WAY ANOVA TEST AND RESULTS</vt:lpstr>
      <vt:lpstr>CHI-SQUARED TEST</vt:lpstr>
      <vt:lpstr>TWO WAY CHI-SQUARED TEST</vt:lpstr>
      <vt:lpstr>LINEAR REGRESSION</vt:lpstr>
      <vt:lpstr>LINEAR REGRESSION-Predicting Price based on screen size and has 5g</vt:lpstr>
      <vt:lpstr>CONCLUSION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Sri Dachepally (sdchpll1)</dc:creator>
  <cp:lastModifiedBy>Sindhu Namani</cp:lastModifiedBy>
  <cp:revision>33</cp:revision>
  <dcterms:created xsi:type="dcterms:W3CDTF">2024-11-16T23:43:07Z</dcterms:created>
  <dcterms:modified xsi:type="dcterms:W3CDTF">2026-05-13T23:26:49Z</dcterms:modified>
</cp:coreProperties>
</file>